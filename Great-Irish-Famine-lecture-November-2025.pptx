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1.xml" ContentType="application/vnd.openxmlformats-officedocument.presentationml.slide+xml"/>
  <Override PartName="/ppt/charts/population.xml" ContentType="application/vnd.openxmlformats-officedocument.drawingml.chart+xml"/>
  <Default Extension="xlsx" ContentType="application/vnd.openxmlformats-officedocument.spreadsheetml.sheet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7" r:id="rId1"/>
  </p:sldMasterIdLst>
  <p:notesMasterIdLst>
    <p:notesMasterId r:id="rId72"/>
  </p:notesMasterIdLst>
  <p:handoutMasterIdLst>
    <p:handoutMasterId r:id="rId73"/>
  </p:handoutMasterIdLst>
  <p:sldIdLst>
    <p:sldId id="256" r:id="rId2"/>
    <p:sldId id="359" r:id="rIdTeachingNote"/>
    <p:sldId id="257" r:id="rId3"/>
    <p:sldId id="260" r:id="rId4"/>
    <p:sldId id="264" r:id="rId5"/>
    <p:sldId id="303" r:id="rId6"/>
    <p:sldId id="258" r:id="rId7"/>
    <p:sldId id="265" r:id="rId8"/>
    <p:sldId id="259" r:id="rId9"/>
    <p:sldId id="261" r:id="rId10"/>
    <p:sldId id="334" r:id="rId11"/>
    <p:sldId id="295" r:id="rId12"/>
    <p:sldId id="333" r:id="rId13"/>
    <p:sldId id="297" r:id="rId14"/>
    <p:sldId id="317" r:id="rId15"/>
    <p:sldId id="299" r:id="rId16"/>
    <p:sldId id="263" r:id="rId17"/>
    <p:sldId id="368" r:id="rIdChurches"/>
    <p:sldId id="296" r:id="rId18"/>
    <p:sldId id="262" r:id="rId19"/>
    <p:sldId id="298" r:id="rId20"/>
    <p:sldId id="300" r:id="rId21"/>
    <p:sldId id="363" r:id="rIdConclusion76"/>
    <p:sldId id="335" r:id="rId22"/>
    <p:sldId id="274" r:id="rId23"/>
    <p:sldId id="275" r:id="rId24"/>
    <p:sldId id="282" r:id="rId25"/>
    <p:sldId id="344" r:id="rId26"/>
    <p:sldId id="304" r:id="rId27"/>
    <p:sldId id="288" r:id="rId28"/>
    <p:sldId id="284" r:id="rId29"/>
    <p:sldId id="319" r:id="rId30"/>
    <p:sldId id="337" r:id="rId31"/>
    <p:sldId id="310" r:id="rId32"/>
    <p:sldId id="279" r:id="rId33"/>
    <p:sldId id="358" r:id="rIdReliefSlide"/>
    <p:sldId id="281" r:id="rId34"/>
    <p:sldId id="321" r:id="rId35"/>
    <p:sldId id="318" r:id="rId36"/>
    <p:sldId id="366" r:id="rIdInstitutions"/>
    <p:sldId id="286" r:id="rId37"/>
    <p:sldId id="320" r:id="rId38"/>
    <p:sldId id="364" r:id="rIdConclusion77"/>
    <p:sldId id="338" r:id="rId39"/>
    <p:sldId id="291" r:id="rId40"/>
    <p:sldId id="290" r:id="rId41"/>
    <p:sldId id="309" r:id="rId42"/>
    <p:sldId id="311" r:id="rId43"/>
    <p:sldId id="312" r:id="rId44"/>
    <p:sldId id="313" r:id="rId45"/>
    <p:sldId id="314" r:id="rId46"/>
    <p:sldId id="339" r:id="rId47"/>
    <p:sldId id="352" r:id="rId48"/>
    <p:sldId id="356" r:id="rId49"/>
    <p:sldId id="283" r:id="rId50"/>
    <p:sldId id="305" r:id="rId51"/>
    <p:sldId id="357" r:id="rId52"/>
    <p:sldId id="361" r:id="rIdRailwaySlide74"/>
    <p:sldId id="362" r:id="rIdRailwaySlide75"/>
    <p:sldId id="355" r:id="rId53"/>
    <p:sldId id="353" r:id="rId54"/>
    <p:sldId id="365" r:id="rIdAnthropometrics"/>
    <p:sldId id="354" r:id="rId55"/>
    <p:sldId id="268" r:id="rId56"/>
    <p:sldId id="270" r:id="rId57"/>
    <p:sldId id="323" r:id="rId58"/>
    <p:sldId id="324" r:id="rId59"/>
    <p:sldId id="325" r:id="rId60"/>
    <p:sldId id="269" r:id="rId61"/>
    <p:sldId id="271" r:id="rId62"/>
    <p:sldId id="322" r:id="rId63"/>
    <p:sldId id="327" r:id="rId64"/>
    <p:sldId id="342" r:id="rId65"/>
    <p:sldId id="343" r:id="rId66"/>
    <p:sldId id="345" r:id="rId67"/>
    <p:sldId id="347" r:id="rId68"/>
    <p:sldId id="350" r:id="rId69"/>
    <p:sldId id="351" r:id="rId70"/>
    <p:sldId id="301" r:id="rId71"/>
    <p:sldId id="360" r:id="rIdSyllabusReadings"/>
    <p:sldId id="367" r:id="rIdContact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CA8CF8-BDE6-4006-A488-BA97D4D97D09}">
          <p14:sldIdLst>
            <p14:sldId id="256"/>
            <p14:sldId id="359"/>
            <p14:sldId id="257"/>
            <p14:sldId id="260"/>
            <p14:sldId id="264"/>
            <p14:sldId id="303"/>
            <p14:sldId id="258"/>
            <p14:sldId id="265"/>
            <p14:sldId id="259"/>
            <p14:sldId id="261"/>
            <p14:sldId id="334"/>
            <p14:sldId id="295"/>
            <p14:sldId id="333"/>
            <p14:sldId id="297"/>
            <p14:sldId id="317"/>
            <p14:sldId id="299"/>
            <p14:sldId id="263"/>
            <p14:sldId id="368"/>
            <p14:sldId id="296"/>
            <p14:sldId id="262"/>
            <p14:sldId id="298"/>
            <p14:sldId id="300"/>
            <p14:sldId id="363"/>
            <p14:sldId id="335"/>
            <p14:sldId id="274"/>
            <p14:sldId id="275"/>
            <p14:sldId id="282"/>
            <p14:sldId id="344"/>
            <p14:sldId id="304"/>
            <p14:sldId id="288"/>
            <p14:sldId id="284"/>
            <p14:sldId id="319"/>
            <p14:sldId id="337"/>
            <p14:sldId id="310"/>
            <p14:sldId id="279"/>
            <p14:sldId id="281"/>
            <p14:sldId id="321"/>
            <p14:sldId id="318"/>
            <p14:sldId id="366"/>
            <p14:sldId id="286"/>
            <p14:sldId id="320"/>
            <p14:sldId id="364"/>
            <p14:sldId id="338"/>
            <p14:sldId id="291"/>
            <p14:sldId id="290"/>
            <p14:sldId id="309"/>
            <p14:sldId id="311"/>
            <p14:sldId id="312"/>
            <p14:sldId id="313"/>
            <p14:sldId id="314"/>
            <p14:sldId id="339"/>
            <p14:sldId id="352"/>
            <p14:sldId id="356"/>
            <p14:sldId id="283"/>
            <p14:sldId id="305"/>
            <p14:sldId id="357"/>
            <p14:sldId id="361"/>
            <p14:sldId id="362"/>
            <p14:sldId id="355"/>
            <p14:sldId id="353"/>
          </p14:sldIdLst>
        </p14:section>
        <p14:section name="Part VI: Prison registers as a source of cliometric history" id="{20C7138E-05C8-4BE2-8B34-FA13D74FD84A}">
          <p14:sldIdLst>
            <p14:sldId id="365"/>
            <p14:sldId id="354"/>
            <p14:sldId id="268"/>
            <p14:sldId id="270"/>
            <p14:sldId id="323"/>
            <p14:sldId id="324"/>
            <p14:sldId id="325"/>
            <p14:sldId id="269"/>
            <p14:sldId id="271"/>
            <p14:sldId id="322"/>
            <p14:sldId id="327"/>
            <p14:sldId id="342"/>
            <p14:sldId id="343"/>
            <p14:sldId id="345"/>
            <p14:sldId id="347"/>
            <p14:sldId id="350"/>
            <p14:sldId id="351"/>
            <p14:sldId id="301"/>
            <p14:sldId id="360"/>
            <p14:sldId id="3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44" autoAdjust="0"/>
    <p:restoredTop sz="94660" autoAdjust="0"/>
  </p:normalViewPr>
  <p:slideViewPr>
    <p:cSldViewPr>
      <p:cViewPr>
        <p:scale>
          <a:sx n="66" d="100"/>
          <a:sy n="66" d="100"/>
        </p:scale>
        <p:origin x="692" y="2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0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20" d="100"/>
          <a:sy n="120" d="100"/>
        </p:scale>
        <p:origin x="2946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ReliefSlide" Type="http://schemas.openxmlformats.org/officeDocument/2006/relationships/slide" Target="slides/slide71.xml"/><Relationship Id="rIdTeachingNote" Type="http://schemas.openxmlformats.org/officeDocument/2006/relationships/slide" Target="slides/slide72.xml"/><Relationship Id="rIdSyllabusReadings" Type="http://schemas.openxmlformats.org/officeDocument/2006/relationships/slide" Target="slides/slide73.xml"/><Relationship Id="rIdRailwaySlide74" Type="http://schemas.openxmlformats.org/officeDocument/2006/relationships/slide" Target="slides/slide74.xml"/><Relationship Id="rIdRailwaySlide75" Type="http://schemas.openxmlformats.org/officeDocument/2006/relationships/slide" Target="slides/slide75.xml"/><Relationship Id="rIdConclusion76" Type="http://schemas.openxmlformats.org/officeDocument/2006/relationships/slide" Target="slides/slide76.xml"/><Relationship Id="rIdConclusion77" Type="http://schemas.openxmlformats.org/officeDocument/2006/relationships/slide" Target="slides/slide77.xml"/><Relationship Id="rIdAnthropometrics" Type="http://schemas.openxmlformats.org/officeDocument/2006/relationships/slide" Target="slides/slide78.xml"/><Relationship Id="rIdInstitutions" Type="http://schemas.openxmlformats.org/officeDocument/2006/relationships/slide" Target="slides/slide79.xml"/><Relationship Id="rIdContact" Type="http://schemas.openxmlformats.org/officeDocument/2006/relationships/slide" Target="slides/slide80.xml"/><Relationship Id="rIdChurches" Type="http://schemas.openxmlformats.org/officeDocument/2006/relationships/slide" Target="slides/slide8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Eoin\Documents\Workspace\Eoin%20Monograph\May%20thesis\excel%20work\Data%20from%20other%20researchers\prices%20from%20kennedy%20and%20solar2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ColvinSSD:Users:clcolvin84:Dropbox:Projects:Prisoners:Kilmainham%20prison%20pop.xls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Eoin%20McLaughlin\Dropbox\Prisoners\Human%20and%20Health%20capital\Literacy%20regressions_20141119.xlsx" TargetMode="External"/></Relationships>
</file>

<file path=ppt/charts/_rels/population.xml.rels><?xml version='1.0' encoding='UTF-8' standalone='yes'?>
<Relationships xmlns="http://schemas.openxmlformats.org/package/2006/relationships"><Relationship Id="rIdWorkbook" Type="http://schemas.openxmlformats.org/officeDocument/2006/relationships/package" Target="../embeddings/population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potatos!$R$3</c:f>
              <c:strCache>
                <c:ptCount val="1"/>
                <c:pt idx="0">
                  <c:v>South production</c:v>
                </c:pt>
              </c:strCache>
            </c:strRef>
          </c:tx>
          <c:invertIfNegative val="0"/>
          <c:cat>
            <c:numRef>
              <c:f>potatos!$A$74:$A$92</c:f>
              <c:numCache>
                <c:formatCode>General</c:formatCode>
                <c:ptCount val="19"/>
                <c:pt idx="0">
                  <c:v>1835</c:v>
                </c:pt>
                <c:pt idx="1">
                  <c:v>1836</c:v>
                </c:pt>
                <c:pt idx="2">
                  <c:v>1837</c:v>
                </c:pt>
                <c:pt idx="3">
                  <c:v>1838</c:v>
                </c:pt>
                <c:pt idx="4">
                  <c:v>1839</c:v>
                </c:pt>
                <c:pt idx="5">
                  <c:v>1840</c:v>
                </c:pt>
                <c:pt idx="6">
                  <c:v>1841</c:v>
                </c:pt>
                <c:pt idx="7">
                  <c:v>1842</c:v>
                </c:pt>
                <c:pt idx="8">
                  <c:v>1843</c:v>
                </c:pt>
                <c:pt idx="9">
                  <c:v>1844</c:v>
                </c:pt>
                <c:pt idx="10">
                  <c:v>1845</c:v>
                </c:pt>
                <c:pt idx="11">
                  <c:v>1846</c:v>
                </c:pt>
                <c:pt idx="12">
                  <c:v>1847</c:v>
                </c:pt>
                <c:pt idx="13">
                  <c:v>1848</c:v>
                </c:pt>
                <c:pt idx="14">
                  <c:v>1849</c:v>
                </c:pt>
                <c:pt idx="15">
                  <c:v>1850</c:v>
                </c:pt>
                <c:pt idx="16">
                  <c:v>1851</c:v>
                </c:pt>
                <c:pt idx="17">
                  <c:v>1852</c:v>
                </c:pt>
                <c:pt idx="18">
                  <c:v>1853</c:v>
                </c:pt>
              </c:numCache>
            </c:numRef>
          </c:cat>
          <c:val>
            <c:numRef>
              <c:f>potatos!$R$74:$R$92</c:f>
              <c:numCache>
                <c:formatCode>0.00</c:formatCode>
                <c:ptCount val="19"/>
                <c:pt idx="0">
                  <c:v>10.759493670886069</c:v>
                </c:pt>
                <c:pt idx="1">
                  <c:v>30.28571428571427</c:v>
                </c:pt>
                <c:pt idx="2">
                  <c:v>-13.596491228070169</c:v>
                </c:pt>
                <c:pt idx="3">
                  <c:v>7.6142131979695487</c:v>
                </c:pt>
                <c:pt idx="4">
                  <c:v>33.490566037735853</c:v>
                </c:pt>
                <c:pt idx="5">
                  <c:v>-30.03533568904594</c:v>
                </c:pt>
                <c:pt idx="6">
                  <c:v>15.15151515151514</c:v>
                </c:pt>
                <c:pt idx="7">
                  <c:v>-31.140350877192969</c:v>
                </c:pt>
                <c:pt idx="8">
                  <c:v>19.74522292993629</c:v>
                </c:pt>
                <c:pt idx="9">
                  <c:v>31.914893617021281</c:v>
                </c:pt>
                <c:pt idx="10">
                  <c:v>34.274193548387103</c:v>
                </c:pt>
                <c:pt idx="11">
                  <c:v>146.24624624624619</c:v>
                </c:pt>
                <c:pt idx="12">
                  <c:v>-8.1707317073170618</c:v>
                </c:pt>
                <c:pt idx="13">
                  <c:v>-32.669322709163353</c:v>
                </c:pt>
                <c:pt idx="14">
                  <c:v>0</c:v>
                </c:pt>
                <c:pt idx="15">
                  <c:v>-11.83431952662723</c:v>
                </c:pt>
                <c:pt idx="16">
                  <c:v>-14.988814317673381</c:v>
                </c:pt>
                <c:pt idx="17">
                  <c:v>35</c:v>
                </c:pt>
                <c:pt idx="18">
                  <c:v>6.6276803118908347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21-4CC0-A84F-F8493B2185E6}"/>
            </c:ext>
          </c:extLst>
        </c:ser>
        <c:ser>
          <c:idx val="1"/>
          <c:order val="1"/>
          <c:tx>
            <c:strRef>
              <c:f>potatos!$S$3</c:f>
              <c:strCache>
                <c:ptCount val="1"/>
                <c:pt idx="0">
                  <c:v>South Calendar</c:v>
                </c:pt>
              </c:strCache>
            </c:strRef>
          </c:tx>
          <c:invertIfNegative val="0"/>
          <c:cat>
            <c:numRef>
              <c:f>potatos!$A$74:$A$92</c:f>
              <c:numCache>
                <c:formatCode>General</c:formatCode>
                <c:ptCount val="19"/>
                <c:pt idx="0">
                  <c:v>1835</c:v>
                </c:pt>
                <c:pt idx="1">
                  <c:v>1836</c:v>
                </c:pt>
                <c:pt idx="2">
                  <c:v>1837</c:v>
                </c:pt>
                <c:pt idx="3">
                  <c:v>1838</c:v>
                </c:pt>
                <c:pt idx="4">
                  <c:v>1839</c:v>
                </c:pt>
                <c:pt idx="5">
                  <c:v>1840</c:v>
                </c:pt>
                <c:pt idx="6">
                  <c:v>1841</c:v>
                </c:pt>
                <c:pt idx="7">
                  <c:v>1842</c:v>
                </c:pt>
                <c:pt idx="8">
                  <c:v>1843</c:v>
                </c:pt>
                <c:pt idx="9">
                  <c:v>1844</c:v>
                </c:pt>
                <c:pt idx="10">
                  <c:v>1845</c:v>
                </c:pt>
                <c:pt idx="11">
                  <c:v>1846</c:v>
                </c:pt>
                <c:pt idx="12">
                  <c:v>1847</c:v>
                </c:pt>
                <c:pt idx="13">
                  <c:v>1848</c:v>
                </c:pt>
                <c:pt idx="14">
                  <c:v>1849</c:v>
                </c:pt>
                <c:pt idx="15">
                  <c:v>1850</c:v>
                </c:pt>
                <c:pt idx="16">
                  <c:v>1851</c:v>
                </c:pt>
                <c:pt idx="17">
                  <c:v>1852</c:v>
                </c:pt>
                <c:pt idx="18">
                  <c:v>1853</c:v>
                </c:pt>
              </c:numCache>
            </c:numRef>
          </c:cat>
          <c:val>
            <c:numRef>
              <c:f>potatos!$S$74:$S$92</c:f>
              <c:numCache>
                <c:formatCode>0.00</c:formatCode>
                <c:ptCount val="19"/>
                <c:pt idx="0">
                  <c:v>-16.83168316831684</c:v>
                </c:pt>
                <c:pt idx="1">
                  <c:v>17.857142857142861</c:v>
                </c:pt>
                <c:pt idx="2">
                  <c:v>3.535353535353527</c:v>
                </c:pt>
                <c:pt idx="3">
                  <c:v>-0.97560975609756195</c:v>
                </c:pt>
                <c:pt idx="4">
                  <c:v>15.763546798029569</c:v>
                </c:pt>
                <c:pt idx="5">
                  <c:v>14.04255319148937</c:v>
                </c:pt>
                <c:pt idx="6">
                  <c:v>-25.373134328358219</c:v>
                </c:pt>
                <c:pt idx="7">
                  <c:v>5.0000000000000044</c:v>
                </c:pt>
                <c:pt idx="8">
                  <c:v>-20.476190476190489</c:v>
                </c:pt>
                <c:pt idx="9">
                  <c:v>29.940119760479039</c:v>
                </c:pt>
                <c:pt idx="10">
                  <c:v>23.041474654377879</c:v>
                </c:pt>
                <c:pt idx="11">
                  <c:v>65.543071161048687</c:v>
                </c:pt>
                <c:pt idx="12">
                  <c:v>102.0361990950226</c:v>
                </c:pt>
                <c:pt idx="13">
                  <c:v>-28.33146696528555</c:v>
                </c:pt>
                <c:pt idx="14">
                  <c:v>-21.875000000000011</c:v>
                </c:pt>
                <c:pt idx="15">
                  <c:v>-2.5999999999999979</c:v>
                </c:pt>
                <c:pt idx="16">
                  <c:v>-12.320328542094471</c:v>
                </c:pt>
                <c:pt idx="17">
                  <c:v>-4.6838407494145038</c:v>
                </c:pt>
                <c:pt idx="18">
                  <c:v>29.48402948402946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21-4CC0-A84F-F8493B2185E6}"/>
            </c:ext>
          </c:extLst>
        </c:ser>
        <c:ser>
          <c:idx val="2"/>
          <c:order val="2"/>
          <c:tx>
            <c:strRef>
              <c:f>potatos!$T$3</c:f>
              <c:strCache>
                <c:ptCount val="1"/>
                <c:pt idx="0">
                  <c:v>North production</c:v>
                </c:pt>
              </c:strCache>
            </c:strRef>
          </c:tx>
          <c:invertIfNegative val="0"/>
          <c:cat>
            <c:numRef>
              <c:f>potatos!$A$74:$A$92</c:f>
              <c:numCache>
                <c:formatCode>General</c:formatCode>
                <c:ptCount val="19"/>
                <c:pt idx="0">
                  <c:v>1835</c:v>
                </c:pt>
                <c:pt idx="1">
                  <c:v>1836</c:v>
                </c:pt>
                <c:pt idx="2">
                  <c:v>1837</c:v>
                </c:pt>
                <c:pt idx="3">
                  <c:v>1838</c:v>
                </c:pt>
                <c:pt idx="4">
                  <c:v>1839</c:v>
                </c:pt>
                <c:pt idx="5">
                  <c:v>1840</c:v>
                </c:pt>
                <c:pt idx="6">
                  <c:v>1841</c:v>
                </c:pt>
                <c:pt idx="7">
                  <c:v>1842</c:v>
                </c:pt>
                <c:pt idx="8">
                  <c:v>1843</c:v>
                </c:pt>
                <c:pt idx="9">
                  <c:v>1844</c:v>
                </c:pt>
                <c:pt idx="10">
                  <c:v>1845</c:v>
                </c:pt>
                <c:pt idx="11">
                  <c:v>1846</c:v>
                </c:pt>
                <c:pt idx="12">
                  <c:v>1847</c:v>
                </c:pt>
                <c:pt idx="13">
                  <c:v>1848</c:v>
                </c:pt>
                <c:pt idx="14">
                  <c:v>1849</c:v>
                </c:pt>
                <c:pt idx="15">
                  <c:v>1850</c:v>
                </c:pt>
                <c:pt idx="16">
                  <c:v>1851</c:v>
                </c:pt>
                <c:pt idx="17">
                  <c:v>1852</c:v>
                </c:pt>
                <c:pt idx="18">
                  <c:v>1853</c:v>
                </c:pt>
              </c:numCache>
            </c:numRef>
          </c:cat>
          <c:val>
            <c:numRef>
              <c:f>potatos!$T$74:$T$92</c:f>
              <c:numCache>
                <c:formatCode>0.00</c:formatCode>
                <c:ptCount val="19"/>
                <c:pt idx="0">
                  <c:v>52.678571428571409</c:v>
                </c:pt>
                <c:pt idx="1">
                  <c:v>36.257309941520482</c:v>
                </c:pt>
                <c:pt idx="2">
                  <c:v>-33.905579399141637</c:v>
                </c:pt>
                <c:pt idx="3">
                  <c:v>64.935064935064929</c:v>
                </c:pt>
                <c:pt idx="4">
                  <c:v>0.393700787401566</c:v>
                </c:pt>
                <c:pt idx="5">
                  <c:v>-16.862745098039198</c:v>
                </c:pt>
                <c:pt idx="6">
                  <c:v>29.245283018867919</c:v>
                </c:pt>
                <c:pt idx="7">
                  <c:v>-54.014598540145982</c:v>
                </c:pt>
                <c:pt idx="8">
                  <c:v>67.460317460317484</c:v>
                </c:pt>
                <c:pt idx="9">
                  <c:v>-14.69194312796208</c:v>
                </c:pt>
                <c:pt idx="10">
                  <c:v>82.222222222222214</c:v>
                </c:pt>
                <c:pt idx="11">
                  <c:v>124.0853658536585</c:v>
                </c:pt>
                <c:pt idx="12">
                  <c:v>-26.802721088435369</c:v>
                </c:pt>
                <c:pt idx="13">
                  <c:v>-37.174721189591082</c:v>
                </c:pt>
                <c:pt idx="14">
                  <c:v>26.627218934911252</c:v>
                </c:pt>
                <c:pt idx="15">
                  <c:v>-17.289719626168221</c:v>
                </c:pt>
                <c:pt idx="16">
                  <c:v>11.581920903954799</c:v>
                </c:pt>
                <c:pt idx="17">
                  <c:v>2.5316455696202431</c:v>
                </c:pt>
                <c:pt idx="18">
                  <c:v>10.617283950617299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21-4CC0-A84F-F8493B2185E6}"/>
            </c:ext>
          </c:extLst>
        </c:ser>
        <c:ser>
          <c:idx val="3"/>
          <c:order val="3"/>
          <c:tx>
            <c:strRef>
              <c:f>potatos!$U$3</c:f>
              <c:strCache>
                <c:ptCount val="1"/>
                <c:pt idx="0">
                  <c:v>North Calendar</c:v>
                </c:pt>
              </c:strCache>
            </c:strRef>
          </c:tx>
          <c:invertIfNegative val="0"/>
          <c:cat>
            <c:numRef>
              <c:f>potatos!$A$74:$A$92</c:f>
              <c:numCache>
                <c:formatCode>General</c:formatCode>
                <c:ptCount val="19"/>
                <c:pt idx="0">
                  <c:v>1835</c:v>
                </c:pt>
                <c:pt idx="1">
                  <c:v>1836</c:v>
                </c:pt>
                <c:pt idx="2">
                  <c:v>1837</c:v>
                </c:pt>
                <c:pt idx="3">
                  <c:v>1838</c:v>
                </c:pt>
                <c:pt idx="4">
                  <c:v>1839</c:v>
                </c:pt>
                <c:pt idx="5">
                  <c:v>1840</c:v>
                </c:pt>
                <c:pt idx="6">
                  <c:v>1841</c:v>
                </c:pt>
                <c:pt idx="7">
                  <c:v>1842</c:v>
                </c:pt>
                <c:pt idx="8">
                  <c:v>1843</c:v>
                </c:pt>
                <c:pt idx="9">
                  <c:v>1844</c:v>
                </c:pt>
                <c:pt idx="10">
                  <c:v>1845</c:v>
                </c:pt>
                <c:pt idx="11">
                  <c:v>1846</c:v>
                </c:pt>
                <c:pt idx="12">
                  <c:v>1847</c:v>
                </c:pt>
                <c:pt idx="13">
                  <c:v>1848</c:v>
                </c:pt>
                <c:pt idx="14">
                  <c:v>1849</c:v>
                </c:pt>
                <c:pt idx="15">
                  <c:v>1850</c:v>
                </c:pt>
                <c:pt idx="16">
                  <c:v>1851</c:v>
                </c:pt>
                <c:pt idx="17">
                  <c:v>1852</c:v>
                </c:pt>
                <c:pt idx="18">
                  <c:v>1853</c:v>
                </c:pt>
              </c:numCache>
            </c:numRef>
          </c:cat>
          <c:val>
            <c:numRef>
              <c:f>potatos!$U$74:$U$92</c:f>
              <c:numCache>
                <c:formatCode>0.00</c:formatCode>
                <c:ptCount val="19"/>
                <c:pt idx="0">
                  <c:v>-23.56321839080459</c:v>
                </c:pt>
                <c:pt idx="1">
                  <c:v>48.872180451127797</c:v>
                </c:pt>
                <c:pt idx="2">
                  <c:v>-4.5454545454545494</c:v>
                </c:pt>
                <c:pt idx="3">
                  <c:v>5.2910052910052956</c:v>
                </c:pt>
                <c:pt idx="4">
                  <c:v>29.64824120603015</c:v>
                </c:pt>
                <c:pt idx="5">
                  <c:v>-5.81395348837209</c:v>
                </c:pt>
                <c:pt idx="6">
                  <c:v>-10.69958847736627</c:v>
                </c:pt>
                <c:pt idx="7">
                  <c:v>10.13824884792627</c:v>
                </c:pt>
                <c:pt idx="8">
                  <c:v>-40.585774058577407</c:v>
                </c:pt>
                <c:pt idx="9">
                  <c:v>39.436619718309863</c:v>
                </c:pt>
                <c:pt idx="10">
                  <c:v>0.50505050505050597</c:v>
                </c:pt>
                <c:pt idx="11">
                  <c:v>116.08040201005019</c:v>
                </c:pt>
                <c:pt idx="12">
                  <c:v>70.465116279069775</c:v>
                </c:pt>
                <c:pt idx="13">
                  <c:v>-36.971350613915412</c:v>
                </c:pt>
                <c:pt idx="14">
                  <c:v>-21.86147186147187</c:v>
                </c:pt>
                <c:pt idx="15">
                  <c:v>16.066481994459849</c:v>
                </c:pt>
                <c:pt idx="16">
                  <c:v>-8.8305489260143322</c:v>
                </c:pt>
                <c:pt idx="17">
                  <c:v>1.832460732984301</c:v>
                </c:pt>
                <c:pt idx="18">
                  <c:v>5.912596401028277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C21-4CC0-A84F-F8493B2185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87211208"/>
        <c:axId val="387211600"/>
      </c:barChart>
      <c:catAx>
        <c:axId val="3872112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crossAx val="387211600"/>
        <c:crosses val="autoZero"/>
        <c:auto val="1"/>
        <c:lblAlgn val="ctr"/>
        <c:lblOffset val="100"/>
        <c:noMultiLvlLbl val="0"/>
      </c:catAx>
      <c:valAx>
        <c:axId val="38721160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GB"/>
                  <a:t>Percentage</a:t>
                </a:r>
                <a:r>
                  <a:rPr lang="en-GB" baseline="0"/>
                  <a:t> change in potato prices (%)</a:t>
                </a:r>
                <a:endParaRPr lang="en-GB"/>
              </a:p>
            </c:rich>
          </c:tx>
          <c:overlay val="0"/>
        </c:title>
        <c:numFmt formatCode="0.00" sourceLinked="1"/>
        <c:majorTickMark val="out"/>
        <c:minorTickMark val="none"/>
        <c:tickLblPos val="nextTo"/>
        <c:crossAx val="387211208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092137083390001"/>
          <c:y val="3.6720108525978103E-2"/>
          <c:w val="0.83388075224526104"/>
          <c:h val="0.822341689745979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Kilmainham pop</c:v>
                </c:pt>
              </c:strCache>
            </c:strRef>
          </c:tx>
          <c:spPr>
            <a:ln w="25400">
              <a:solidFill>
                <a:schemeClr val="tx1"/>
              </a:solidFill>
              <a:prstDash val="solid"/>
            </a:ln>
          </c:spPr>
          <c:invertIfNegative val="0"/>
          <c:cat>
            <c:numRef>
              <c:f>Sheet1!$A$3:$A$114</c:f>
              <c:numCache>
                <c:formatCode>General</c:formatCode>
                <c:ptCount val="112"/>
                <c:pt idx="0">
                  <c:v>1799</c:v>
                </c:pt>
                <c:pt idx="1">
                  <c:v>1800</c:v>
                </c:pt>
                <c:pt idx="2">
                  <c:v>1801</c:v>
                </c:pt>
                <c:pt idx="3">
                  <c:v>1802</c:v>
                </c:pt>
                <c:pt idx="4">
                  <c:v>1803</c:v>
                </c:pt>
                <c:pt idx="5">
                  <c:v>1804</c:v>
                </c:pt>
                <c:pt idx="6">
                  <c:v>1805</c:v>
                </c:pt>
                <c:pt idx="7">
                  <c:v>1806</c:v>
                </c:pt>
                <c:pt idx="8">
                  <c:v>1807</c:v>
                </c:pt>
                <c:pt idx="9">
                  <c:v>1808</c:v>
                </c:pt>
                <c:pt idx="10">
                  <c:v>1809</c:v>
                </c:pt>
                <c:pt idx="11">
                  <c:v>1810</c:v>
                </c:pt>
                <c:pt idx="12">
                  <c:v>1811</c:v>
                </c:pt>
                <c:pt idx="13">
                  <c:v>1812</c:v>
                </c:pt>
                <c:pt idx="14">
                  <c:v>1813</c:v>
                </c:pt>
                <c:pt idx="15">
                  <c:v>1814</c:v>
                </c:pt>
                <c:pt idx="16">
                  <c:v>1815</c:v>
                </c:pt>
                <c:pt idx="17">
                  <c:v>1816</c:v>
                </c:pt>
                <c:pt idx="18">
                  <c:v>1817</c:v>
                </c:pt>
                <c:pt idx="19">
                  <c:v>1818</c:v>
                </c:pt>
                <c:pt idx="20">
                  <c:v>1819</c:v>
                </c:pt>
                <c:pt idx="21">
                  <c:v>1820</c:v>
                </c:pt>
                <c:pt idx="22">
                  <c:v>1821</c:v>
                </c:pt>
                <c:pt idx="23">
                  <c:v>1822</c:v>
                </c:pt>
                <c:pt idx="24">
                  <c:v>1823</c:v>
                </c:pt>
                <c:pt idx="25">
                  <c:v>1824</c:v>
                </c:pt>
                <c:pt idx="26">
                  <c:v>1825</c:v>
                </c:pt>
                <c:pt idx="27">
                  <c:v>1826</c:v>
                </c:pt>
                <c:pt idx="28">
                  <c:v>1827</c:v>
                </c:pt>
                <c:pt idx="29">
                  <c:v>1828</c:v>
                </c:pt>
                <c:pt idx="30">
                  <c:v>1829</c:v>
                </c:pt>
                <c:pt idx="31">
                  <c:v>1830</c:v>
                </c:pt>
                <c:pt idx="32">
                  <c:v>1831</c:v>
                </c:pt>
                <c:pt idx="33">
                  <c:v>1832</c:v>
                </c:pt>
                <c:pt idx="34">
                  <c:v>1833</c:v>
                </c:pt>
                <c:pt idx="35">
                  <c:v>1834</c:v>
                </c:pt>
                <c:pt idx="36">
                  <c:v>1835</c:v>
                </c:pt>
                <c:pt idx="37">
                  <c:v>1836</c:v>
                </c:pt>
                <c:pt idx="38">
                  <c:v>1837</c:v>
                </c:pt>
                <c:pt idx="39">
                  <c:v>1838</c:v>
                </c:pt>
                <c:pt idx="40">
                  <c:v>1839</c:v>
                </c:pt>
                <c:pt idx="41">
                  <c:v>1840</c:v>
                </c:pt>
                <c:pt idx="42">
                  <c:v>1841</c:v>
                </c:pt>
                <c:pt idx="43">
                  <c:v>1842</c:v>
                </c:pt>
                <c:pt idx="44">
                  <c:v>1843</c:v>
                </c:pt>
                <c:pt idx="45">
                  <c:v>1844</c:v>
                </c:pt>
                <c:pt idx="46">
                  <c:v>1845</c:v>
                </c:pt>
                <c:pt idx="47">
                  <c:v>1846</c:v>
                </c:pt>
                <c:pt idx="48">
                  <c:v>1847</c:v>
                </c:pt>
                <c:pt idx="49">
                  <c:v>1848</c:v>
                </c:pt>
                <c:pt idx="50">
                  <c:v>1849</c:v>
                </c:pt>
                <c:pt idx="51">
                  <c:v>1850</c:v>
                </c:pt>
                <c:pt idx="52">
                  <c:v>1851</c:v>
                </c:pt>
                <c:pt idx="53">
                  <c:v>1852</c:v>
                </c:pt>
                <c:pt idx="54">
                  <c:v>1853</c:v>
                </c:pt>
                <c:pt idx="55">
                  <c:v>1854</c:v>
                </c:pt>
                <c:pt idx="56">
                  <c:v>1855</c:v>
                </c:pt>
                <c:pt idx="57">
                  <c:v>1856</c:v>
                </c:pt>
                <c:pt idx="58">
                  <c:v>1857</c:v>
                </c:pt>
                <c:pt idx="59">
                  <c:v>1858</c:v>
                </c:pt>
                <c:pt idx="60">
                  <c:v>1859</c:v>
                </c:pt>
                <c:pt idx="61">
                  <c:v>1860</c:v>
                </c:pt>
                <c:pt idx="62">
                  <c:v>1861</c:v>
                </c:pt>
                <c:pt idx="63">
                  <c:v>1862</c:v>
                </c:pt>
                <c:pt idx="64">
                  <c:v>1863</c:v>
                </c:pt>
                <c:pt idx="65">
                  <c:v>1864</c:v>
                </c:pt>
                <c:pt idx="66">
                  <c:v>1865</c:v>
                </c:pt>
                <c:pt idx="67">
                  <c:v>1866</c:v>
                </c:pt>
                <c:pt idx="68">
                  <c:v>1867</c:v>
                </c:pt>
                <c:pt idx="69">
                  <c:v>1868</c:v>
                </c:pt>
                <c:pt idx="70">
                  <c:v>1869</c:v>
                </c:pt>
                <c:pt idx="71">
                  <c:v>1870</c:v>
                </c:pt>
                <c:pt idx="72">
                  <c:v>1871</c:v>
                </c:pt>
                <c:pt idx="73">
                  <c:v>1872</c:v>
                </c:pt>
                <c:pt idx="74">
                  <c:v>1873</c:v>
                </c:pt>
                <c:pt idx="75">
                  <c:v>1874</c:v>
                </c:pt>
                <c:pt idx="76">
                  <c:v>1875</c:v>
                </c:pt>
                <c:pt idx="77">
                  <c:v>1876</c:v>
                </c:pt>
                <c:pt idx="78">
                  <c:v>1877</c:v>
                </c:pt>
                <c:pt idx="79">
                  <c:v>1878</c:v>
                </c:pt>
                <c:pt idx="80">
                  <c:v>1879</c:v>
                </c:pt>
                <c:pt idx="81">
                  <c:v>1880</c:v>
                </c:pt>
                <c:pt idx="82">
                  <c:v>1881</c:v>
                </c:pt>
                <c:pt idx="83">
                  <c:v>1882</c:v>
                </c:pt>
                <c:pt idx="84">
                  <c:v>1883</c:v>
                </c:pt>
                <c:pt idx="85">
                  <c:v>1884</c:v>
                </c:pt>
                <c:pt idx="86">
                  <c:v>1885</c:v>
                </c:pt>
                <c:pt idx="87">
                  <c:v>1886</c:v>
                </c:pt>
                <c:pt idx="88">
                  <c:v>1887</c:v>
                </c:pt>
                <c:pt idx="89">
                  <c:v>1888</c:v>
                </c:pt>
                <c:pt idx="90">
                  <c:v>1889</c:v>
                </c:pt>
                <c:pt idx="91">
                  <c:v>1890</c:v>
                </c:pt>
                <c:pt idx="92">
                  <c:v>1891</c:v>
                </c:pt>
                <c:pt idx="93">
                  <c:v>1892</c:v>
                </c:pt>
                <c:pt idx="94">
                  <c:v>1893</c:v>
                </c:pt>
                <c:pt idx="95">
                  <c:v>1894</c:v>
                </c:pt>
                <c:pt idx="96">
                  <c:v>1895</c:v>
                </c:pt>
                <c:pt idx="97">
                  <c:v>1896</c:v>
                </c:pt>
                <c:pt idx="98">
                  <c:v>1897</c:v>
                </c:pt>
                <c:pt idx="99">
                  <c:v>1898</c:v>
                </c:pt>
                <c:pt idx="100">
                  <c:v>1899</c:v>
                </c:pt>
                <c:pt idx="101">
                  <c:v>1900</c:v>
                </c:pt>
                <c:pt idx="102">
                  <c:v>1901</c:v>
                </c:pt>
                <c:pt idx="103">
                  <c:v>1902</c:v>
                </c:pt>
                <c:pt idx="104">
                  <c:v>1903</c:v>
                </c:pt>
                <c:pt idx="105">
                  <c:v>1904</c:v>
                </c:pt>
                <c:pt idx="106">
                  <c:v>1905</c:v>
                </c:pt>
                <c:pt idx="107">
                  <c:v>1906</c:v>
                </c:pt>
                <c:pt idx="108">
                  <c:v>1907</c:v>
                </c:pt>
                <c:pt idx="109">
                  <c:v>1908</c:v>
                </c:pt>
                <c:pt idx="110">
                  <c:v>1909</c:v>
                </c:pt>
                <c:pt idx="111">
                  <c:v>1910</c:v>
                </c:pt>
              </c:numCache>
            </c:numRef>
          </c:cat>
          <c:val>
            <c:numRef>
              <c:f>Sheet1!$B$3:$B$114</c:f>
              <c:numCache>
                <c:formatCode>General</c:formatCode>
                <c:ptCount val="112"/>
                <c:pt idx="0">
                  <c:v>345</c:v>
                </c:pt>
                <c:pt idx="1">
                  <c:v>395</c:v>
                </c:pt>
                <c:pt idx="2">
                  <c:v>309</c:v>
                </c:pt>
                <c:pt idx="3">
                  <c:v>295</c:v>
                </c:pt>
                <c:pt idx="4">
                  <c:v>296</c:v>
                </c:pt>
                <c:pt idx="5">
                  <c:v>312</c:v>
                </c:pt>
                <c:pt idx="6">
                  <c:v>353</c:v>
                </c:pt>
                <c:pt idx="7">
                  <c:v>325</c:v>
                </c:pt>
                <c:pt idx="8">
                  <c:v>339</c:v>
                </c:pt>
                <c:pt idx="9">
                  <c:v>271</c:v>
                </c:pt>
                <c:pt idx="10">
                  <c:v>242</c:v>
                </c:pt>
                <c:pt idx="11">
                  <c:v>271</c:v>
                </c:pt>
                <c:pt idx="12">
                  <c:v>264</c:v>
                </c:pt>
                <c:pt idx="13">
                  <c:v>390</c:v>
                </c:pt>
                <c:pt idx="14">
                  <c:v>435</c:v>
                </c:pt>
                <c:pt idx="15">
                  <c:v>408</c:v>
                </c:pt>
                <c:pt idx="16">
                  <c:v>566</c:v>
                </c:pt>
                <c:pt idx="17">
                  <c:v>753</c:v>
                </c:pt>
                <c:pt idx="18">
                  <c:v>866</c:v>
                </c:pt>
                <c:pt idx="19">
                  <c:v>1092</c:v>
                </c:pt>
                <c:pt idx="20">
                  <c:v>733</c:v>
                </c:pt>
                <c:pt idx="21">
                  <c:v>767</c:v>
                </c:pt>
                <c:pt idx="22">
                  <c:v>766</c:v>
                </c:pt>
                <c:pt idx="23">
                  <c:v>659</c:v>
                </c:pt>
                <c:pt idx="24">
                  <c:v>651</c:v>
                </c:pt>
                <c:pt idx="31">
                  <c:v>783</c:v>
                </c:pt>
                <c:pt idx="32">
                  <c:v>842</c:v>
                </c:pt>
                <c:pt idx="33">
                  <c:v>757</c:v>
                </c:pt>
                <c:pt idx="34">
                  <c:v>642</c:v>
                </c:pt>
                <c:pt idx="35">
                  <c:v>824</c:v>
                </c:pt>
                <c:pt idx="36">
                  <c:v>743</c:v>
                </c:pt>
                <c:pt idx="37">
                  <c:v>1163</c:v>
                </c:pt>
                <c:pt idx="38">
                  <c:v>1090</c:v>
                </c:pt>
                <c:pt idx="39">
                  <c:v>1712</c:v>
                </c:pt>
                <c:pt idx="40">
                  <c:v>1285</c:v>
                </c:pt>
                <c:pt idx="41">
                  <c:v>1320</c:v>
                </c:pt>
                <c:pt idx="42">
                  <c:v>1020</c:v>
                </c:pt>
                <c:pt idx="43">
                  <c:v>1421</c:v>
                </c:pt>
                <c:pt idx="44">
                  <c:v>1287</c:v>
                </c:pt>
                <c:pt idx="45">
                  <c:v>1298</c:v>
                </c:pt>
                <c:pt idx="46">
                  <c:v>1265</c:v>
                </c:pt>
                <c:pt idx="47">
                  <c:v>1265</c:v>
                </c:pt>
                <c:pt idx="48">
                  <c:v>2112</c:v>
                </c:pt>
                <c:pt idx="49">
                  <c:v>4655</c:v>
                </c:pt>
                <c:pt idx="50">
                  <c:v>6888</c:v>
                </c:pt>
                <c:pt idx="51">
                  <c:v>9052</c:v>
                </c:pt>
                <c:pt idx="52">
                  <c:v>1971</c:v>
                </c:pt>
                <c:pt idx="53">
                  <c:v>1782</c:v>
                </c:pt>
                <c:pt idx="54">
                  <c:v>1554</c:v>
                </c:pt>
                <c:pt idx="55">
                  <c:v>1608</c:v>
                </c:pt>
                <c:pt idx="56">
                  <c:v>1061</c:v>
                </c:pt>
                <c:pt idx="57">
                  <c:v>943</c:v>
                </c:pt>
                <c:pt idx="58">
                  <c:v>916</c:v>
                </c:pt>
                <c:pt idx="59">
                  <c:v>808</c:v>
                </c:pt>
                <c:pt idx="60">
                  <c:v>812</c:v>
                </c:pt>
                <c:pt idx="61">
                  <c:v>674</c:v>
                </c:pt>
                <c:pt idx="62">
                  <c:v>765</c:v>
                </c:pt>
                <c:pt idx="63">
                  <c:v>810</c:v>
                </c:pt>
                <c:pt idx="64">
                  <c:v>809</c:v>
                </c:pt>
                <c:pt idx="65">
                  <c:v>782</c:v>
                </c:pt>
                <c:pt idx="66">
                  <c:v>869</c:v>
                </c:pt>
                <c:pt idx="67">
                  <c:v>956</c:v>
                </c:pt>
                <c:pt idx="68">
                  <c:v>1052</c:v>
                </c:pt>
                <c:pt idx="69">
                  <c:v>811</c:v>
                </c:pt>
                <c:pt idx="70">
                  <c:v>886</c:v>
                </c:pt>
                <c:pt idx="71">
                  <c:v>913</c:v>
                </c:pt>
                <c:pt idx="72">
                  <c:v>795</c:v>
                </c:pt>
                <c:pt idx="73">
                  <c:v>777</c:v>
                </c:pt>
                <c:pt idx="74">
                  <c:v>964</c:v>
                </c:pt>
                <c:pt idx="75">
                  <c:v>956</c:v>
                </c:pt>
                <c:pt idx="76">
                  <c:v>915</c:v>
                </c:pt>
                <c:pt idx="77">
                  <c:v>976</c:v>
                </c:pt>
                <c:pt idx="78">
                  <c:v>1823</c:v>
                </c:pt>
                <c:pt idx="79">
                  <c:v>2005</c:v>
                </c:pt>
                <c:pt idx="80">
                  <c:v>1812</c:v>
                </c:pt>
                <c:pt idx="81">
                  <c:v>1672</c:v>
                </c:pt>
                <c:pt idx="82">
                  <c:v>1568</c:v>
                </c:pt>
                <c:pt idx="83">
                  <c:v>1406</c:v>
                </c:pt>
                <c:pt idx="84">
                  <c:v>1169</c:v>
                </c:pt>
                <c:pt idx="85">
                  <c:v>1081</c:v>
                </c:pt>
                <c:pt idx="86">
                  <c:v>1228</c:v>
                </c:pt>
                <c:pt idx="87">
                  <c:v>1382</c:v>
                </c:pt>
                <c:pt idx="88">
                  <c:v>1459</c:v>
                </c:pt>
                <c:pt idx="89">
                  <c:v>1796</c:v>
                </c:pt>
                <c:pt idx="90">
                  <c:v>1692</c:v>
                </c:pt>
                <c:pt idx="91">
                  <c:v>1616</c:v>
                </c:pt>
                <c:pt idx="92">
                  <c:v>1568</c:v>
                </c:pt>
                <c:pt idx="93">
                  <c:v>1333</c:v>
                </c:pt>
                <c:pt idx="94">
                  <c:v>1364</c:v>
                </c:pt>
                <c:pt idx="95">
                  <c:v>1437</c:v>
                </c:pt>
                <c:pt idx="96">
                  <c:v>1276</c:v>
                </c:pt>
                <c:pt idx="97">
                  <c:v>1442</c:v>
                </c:pt>
                <c:pt idx="98">
                  <c:v>1436</c:v>
                </c:pt>
                <c:pt idx="99">
                  <c:v>1741</c:v>
                </c:pt>
                <c:pt idx="100">
                  <c:v>1584</c:v>
                </c:pt>
                <c:pt idx="101">
                  <c:v>1386</c:v>
                </c:pt>
                <c:pt idx="102">
                  <c:v>1317</c:v>
                </c:pt>
                <c:pt idx="103">
                  <c:v>1574</c:v>
                </c:pt>
                <c:pt idx="104">
                  <c:v>1399</c:v>
                </c:pt>
                <c:pt idx="105">
                  <c:v>1475</c:v>
                </c:pt>
                <c:pt idx="106">
                  <c:v>1585</c:v>
                </c:pt>
                <c:pt idx="107">
                  <c:v>1667</c:v>
                </c:pt>
                <c:pt idx="108">
                  <c:v>1810</c:v>
                </c:pt>
                <c:pt idx="109">
                  <c:v>1552</c:v>
                </c:pt>
                <c:pt idx="110">
                  <c:v>1497</c:v>
                </c:pt>
                <c:pt idx="111">
                  <c:v>198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B8-4307-B9DF-7F7F3CAF75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87465488"/>
        <c:axId val="-2044477456"/>
      </c:barChart>
      <c:catAx>
        <c:axId val="-20874654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-270000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Goudy Old Style"/>
                <a:ea typeface="Arial"/>
                <a:cs typeface="Goudy Old Style"/>
              </a:defRPr>
            </a:pPr>
            <a:endParaRPr lang="en-US"/>
          </a:p>
        </c:txPr>
        <c:crossAx val="-2044477456"/>
        <c:crosses val="autoZero"/>
        <c:auto val="1"/>
        <c:lblAlgn val="ctr"/>
        <c:lblOffset val="100"/>
        <c:tickMarkSkip val="1"/>
        <c:noMultiLvlLbl val="0"/>
      </c:catAx>
      <c:valAx>
        <c:axId val="-204447745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925" b="0" i="0" u="none" strike="noStrike" baseline="0">
                    <a:solidFill>
                      <a:srgbClr val="000000"/>
                    </a:solidFill>
                    <a:latin typeface="Times New Roman" panose="02020603050405020304" pitchFamily="18" charset="0"/>
                    <a:ea typeface="Arial"/>
                    <a:cs typeface="Times New Roman" panose="02020603050405020304" pitchFamily="18" charset="0"/>
                  </a:defRPr>
                </a:pPr>
                <a:r>
                  <a:rPr lang="en-US" sz="1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Prisoners in</a:t>
                </a:r>
                <a:r>
                  <a:rPr lang="en-US" sz="1600" b="0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Kilmainham Gaol</a:t>
                </a:r>
              </a:p>
            </c:rich>
          </c:tx>
          <c:layout>
            <c:manualLayout>
              <c:xMode val="edge"/>
              <c:yMode val="edge"/>
              <c:x val="5.3972340162547301E-3"/>
              <c:y val="0.14792758833345701"/>
            </c:manualLayout>
          </c:layout>
          <c:overlay val="0"/>
          <c:spPr>
            <a:noFill/>
            <a:ln w="25400">
              <a:noFill/>
            </a:ln>
          </c:spPr>
        </c:title>
        <c:numFmt formatCode="#,##0" sourceLinked="0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defRPr>
            </a:pPr>
            <a:endParaRPr lang="en-US"/>
          </a:p>
        </c:txPr>
        <c:crossAx val="-2087465488"/>
        <c:crosses val="autoZero"/>
        <c:crossBetween val="between"/>
      </c:valAx>
      <c:spPr>
        <a:noFill/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 w="3175">
      <a:noFill/>
      <a:prstDash val="solid"/>
    </a:ln>
  </c:spPr>
  <c:txPr>
    <a:bodyPr/>
    <a:lstStyle/>
    <a:p>
      <a:pPr>
        <a:defRPr sz="925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7446754929801"/>
          <c:y val="3.1915860746457698E-2"/>
          <c:w val="0.87247774783544096"/>
          <c:h val="0.79670758413333498"/>
        </c:manualLayout>
      </c:layout>
      <c:lineChart>
        <c:grouping val="standard"/>
        <c:varyColors val="0"/>
        <c:ser>
          <c:idx val="0"/>
          <c:order val="0"/>
          <c:tx>
            <c:strRef>
              <c:f>Clonmel!$B$7</c:f>
              <c:strCache>
                <c:ptCount val="1"/>
                <c:pt idx="0">
                  <c:v>Females</c:v>
                </c:pt>
              </c:strCache>
            </c:strRef>
          </c:tx>
          <c:spPr>
            <a:ln w="28575" cap="rnd">
              <a:solidFill>
                <a:srgbClr val="EE42D5"/>
              </a:solidFill>
              <a:round/>
            </a:ln>
            <a:effectLst/>
          </c:spPr>
          <c:marker>
            <c:symbol val="diamond"/>
            <c:size val="7"/>
            <c:spPr>
              <a:solidFill>
                <a:srgbClr val="EE42D5"/>
              </a:solidFill>
              <a:ln w="9525">
                <a:noFill/>
              </a:ln>
              <a:effectLst/>
            </c:spPr>
          </c:marker>
          <c:cat>
            <c:numRef>
              <c:f>Clonmel!$A$8:$A$22</c:f>
              <c:numCache>
                <c:formatCode>General</c:formatCode>
                <c:ptCount val="15"/>
                <c:pt idx="0">
                  <c:v>1770</c:v>
                </c:pt>
                <c:pt idx="1">
                  <c:v>1780</c:v>
                </c:pt>
                <c:pt idx="2">
                  <c:v>1790</c:v>
                </c:pt>
                <c:pt idx="3">
                  <c:v>1800</c:v>
                </c:pt>
                <c:pt idx="4">
                  <c:v>1810</c:v>
                </c:pt>
                <c:pt idx="5">
                  <c:v>1820</c:v>
                </c:pt>
                <c:pt idx="6">
                  <c:v>1830</c:v>
                </c:pt>
                <c:pt idx="7">
                  <c:v>1840</c:v>
                </c:pt>
                <c:pt idx="8">
                  <c:v>1850</c:v>
                </c:pt>
                <c:pt idx="9">
                  <c:v>1860</c:v>
                </c:pt>
                <c:pt idx="10">
                  <c:v>1870</c:v>
                </c:pt>
                <c:pt idx="11">
                  <c:v>1880</c:v>
                </c:pt>
                <c:pt idx="12">
                  <c:v>1890</c:v>
                </c:pt>
                <c:pt idx="13">
                  <c:v>1900</c:v>
                </c:pt>
                <c:pt idx="14">
                  <c:v>1910</c:v>
                </c:pt>
              </c:numCache>
            </c:numRef>
          </c:cat>
          <c:val>
            <c:numRef>
              <c:f>Clonmel!$B$8:$B$22</c:f>
              <c:numCache>
                <c:formatCode>0.00</c:formatCode>
                <c:ptCount val="15"/>
                <c:pt idx="1">
                  <c:v>0.02</c:v>
                </c:pt>
                <c:pt idx="2">
                  <c:v>7.0000000000000007E-2</c:v>
                </c:pt>
                <c:pt idx="3">
                  <c:v>0.12</c:v>
                </c:pt>
                <c:pt idx="4">
                  <c:v>0.11</c:v>
                </c:pt>
                <c:pt idx="5">
                  <c:v>0.15</c:v>
                </c:pt>
                <c:pt idx="6">
                  <c:v>0.22</c:v>
                </c:pt>
                <c:pt idx="7">
                  <c:v>0.31</c:v>
                </c:pt>
                <c:pt idx="8">
                  <c:v>0.34</c:v>
                </c:pt>
                <c:pt idx="9">
                  <c:v>0.38</c:v>
                </c:pt>
                <c:pt idx="10">
                  <c:v>0.56999999999999995</c:v>
                </c:pt>
                <c:pt idx="12">
                  <c:v>1</c:v>
                </c:pt>
                <c:pt idx="1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1D-490F-9BA5-801BC5044A0D}"/>
            </c:ext>
          </c:extLst>
        </c:ser>
        <c:ser>
          <c:idx val="1"/>
          <c:order val="1"/>
          <c:tx>
            <c:strRef>
              <c:f>Clonmel!$D$7</c:f>
              <c:strCache>
                <c:ptCount val="1"/>
                <c:pt idx="0">
                  <c:v>Males</c:v>
                </c:pt>
              </c:strCache>
            </c:strRef>
          </c:tx>
          <c:spPr>
            <a:ln w="28575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</c:spPr>
          </c:marker>
          <c:cat>
            <c:numRef>
              <c:f>Clonmel!$A$8:$A$22</c:f>
              <c:numCache>
                <c:formatCode>General</c:formatCode>
                <c:ptCount val="15"/>
                <c:pt idx="0">
                  <c:v>1770</c:v>
                </c:pt>
                <c:pt idx="1">
                  <c:v>1780</c:v>
                </c:pt>
                <c:pt idx="2">
                  <c:v>1790</c:v>
                </c:pt>
                <c:pt idx="3">
                  <c:v>1800</c:v>
                </c:pt>
                <c:pt idx="4">
                  <c:v>1810</c:v>
                </c:pt>
                <c:pt idx="5">
                  <c:v>1820</c:v>
                </c:pt>
                <c:pt idx="6">
                  <c:v>1830</c:v>
                </c:pt>
                <c:pt idx="7">
                  <c:v>1840</c:v>
                </c:pt>
                <c:pt idx="8">
                  <c:v>1850</c:v>
                </c:pt>
                <c:pt idx="9">
                  <c:v>1860</c:v>
                </c:pt>
                <c:pt idx="10">
                  <c:v>1870</c:v>
                </c:pt>
                <c:pt idx="11">
                  <c:v>1880</c:v>
                </c:pt>
                <c:pt idx="12">
                  <c:v>1890</c:v>
                </c:pt>
                <c:pt idx="13">
                  <c:v>1900</c:v>
                </c:pt>
                <c:pt idx="14">
                  <c:v>1910</c:v>
                </c:pt>
              </c:numCache>
            </c:numRef>
          </c:cat>
          <c:val>
            <c:numRef>
              <c:f>Clonmel!$D$8:$D$22</c:f>
              <c:numCache>
                <c:formatCode>0.00</c:formatCode>
                <c:ptCount val="15"/>
                <c:pt idx="0">
                  <c:v>0.18999998230000001</c:v>
                </c:pt>
                <c:pt idx="1">
                  <c:v>0.22999998229999999</c:v>
                </c:pt>
                <c:pt idx="2">
                  <c:v>0.2699999823</c:v>
                </c:pt>
                <c:pt idx="3">
                  <c:v>0.25999998229999999</c:v>
                </c:pt>
                <c:pt idx="4">
                  <c:v>0.29999998230000002</c:v>
                </c:pt>
                <c:pt idx="5">
                  <c:v>0.35999998230000002</c:v>
                </c:pt>
                <c:pt idx="6">
                  <c:v>0.34999998230000001</c:v>
                </c:pt>
                <c:pt idx="7">
                  <c:v>0.49999998229999998</c:v>
                </c:pt>
                <c:pt idx="8">
                  <c:v>0.63999998229999999</c:v>
                </c:pt>
                <c:pt idx="9">
                  <c:v>0.66999998230000002</c:v>
                </c:pt>
                <c:pt idx="10">
                  <c:v>0.71999998229999995</c:v>
                </c:pt>
                <c:pt idx="11">
                  <c:v>0.80999998230000003</c:v>
                </c:pt>
                <c:pt idx="12">
                  <c:v>0.81999998230000004</c:v>
                </c:pt>
                <c:pt idx="13">
                  <c:v>0.84999998229999996</c:v>
                </c:pt>
                <c:pt idx="14">
                  <c:v>0.8999999823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E1D-490F-9BA5-801BC5044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122668288"/>
        <c:axId val="-2043370704"/>
      </c:lineChart>
      <c:catAx>
        <c:axId val="-21226682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r>
                  <a:rPr lang="en-GB" sz="1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 of birth</a:t>
                </a:r>
              </a:p>
            </c:rich>
          </c:tx>
          <c:layout>
            <c:manualLayout>
              <c:xMode val="edge"/>
              <c:yMode val="edge"/>
              <c:x val="0.44466476481901401"/>
              <c:y val="0.87810017497812798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-2043370704"/>
        <c:crosses val="autoZero"/>
        <c:auto val="1"/>
        <c:lblAlgn val="ctr"/>
        <c:lblOffset val="100"/>
        <c:tickLblSkip val="1"/>
        <c:noMultiLvlLbl val="0"/>
      </c:catAx>
      <c:valAx>
        <c:axId val="-204337070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 sz="1400" b="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pPr>
                <a:r>
                  <a:rPr lang="en-GB" sz="1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Share of literates at Clonmel Gaol</a:t>
                </a:r>
              </a:p>
            </c:rich>
          </c:tx>
          <c:overlay val="0"/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-2122668288"/>
        <c:crosses val="autoZero"/>
        <c:crossBetween val="between"/>
        <c:majorUnit val="0.2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layout>
        <c:manualLayout>
          <c:xMode val="edge"/>
          <c:yMode val="edge"/>
          <c:x val="0.37536801239586498"/>
          <c:y val="0.93406780402449696"/>
          <c:w val="0.290540027772068"/>
          <c:h val="5.75989299115756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population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Population (millions)</c:v>
          </c:tx>
          <c:spPr>
            <a:solidFill xmlns:a="http://schemas.openxmlformats.org/drawingml/2006/main">
              <a:srgbClr val="738785"/>
            </a:solidFill>
            <a:ln xmlns:a="http://schemas.openxmlformats.org/drawingml/2006/main" w="0">
              <a:noFill/>
            </a:ln>
          </c:spPr>
          <c:dPt>
            <c:idx val="2"/>
            <c:invertIfNegative val="0"/>
            <c:spPr>
              <a:solidFill xmlns:a="http://schemas.openxmlformats.org/drawingml/2006/main">
                <a:srgbClr val="981F32"/>
              </a:solidFill>
              <a:ln xmlns:a="http://schemas.openxmlformats.org/drawingml/2006/main" w="0">
                <a:noFill/>
              </a:ln>
            </c:spPr>
          </c:dPt>
          <c:cat>
            <c:numRef>
              <c:f>Population!$A$2:$A$11</c:f>
              <c:numCache>
                <c:formatCode>General</c:formatCode>
                <c:ptCount val="10"/>
                <c:pt idx="0">
                  <c:v>1821</c:v>
                </c:pt>
                <c:pt idx="1">
                  <c:v>1831</c:v>
                </c:pt>
                <c:pt idx="2">
                  <c:v>1841</c:v>
                </c:pt>
                <c:pt idx="3">
                  <c:v>1851</c:v>
                </c:pt>
                <c:pt idx="4">
                  <c:v>1861</c:v>
                </c:pt>
                <c:pt idx="5">
                  <c:v>1871</c:v>
                </c:pt>
                <c:pt idx="6">
                  <c:v>1881</c:v>
                </c:pt>
                <c:pt idx="7">
                  <c:v>1891</c:v>
                </c:pt>
                <c:pt idx="8">
                  <c:v>1901</c:v>
                </c:pt>
                <c:pt idx="9">
                  <c:v>1911</c:v>
                </c:pt>
              </c:numCache>
            </c:numRef>
          </c:cat>
          <c:val>
            <c:numRef>
              <c:f>Population!$B$2:$B$11</c:f>
              <c:numCache>
                <c:formatCode>0.0</c:formatCode>
                <c:ptCount val="10"/>
                <c:pt idx="0">
                  <c:v>6.801827</c:v>
                </c:pt>
                <c:pt idx="1">
                  <c:v>7.767401</c:v>
                </c:pt>
                <c:pt idx="2">
                  <c:v>8.175124</c:v>
                </c:pt>
                <c:pt idx="3">
                  <c:v>6.552385</c:v>
                </c:pt>
                <c:pt idx="4">
                  <c:v>5.798967</c:v>
                </c:pt>
                <c:pt idx="5">
                  <c:v>5.412377</c:v>
                </c:pt>
                <c:pt idx="6">
                  <c:v>5.174836</c:v>
                </c:pt>
                <c:pt idx="7">
                  <c:v>4.70475</c:v>
                </c:pt>
                <c:pt idx="8">
                  <c:v>4.458775</c:v>
                </c:pt>
                <c:pt idx="9">
                  <c:v>4.390219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43838"/>
                  </a:solidFill>
                  <a:latin typeface="Century Gothic"/>
                  <a:ea typeface="Century Gothic"/>
                  <a:cs typeface="Century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DB6B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43838"/>
                </a:solidFill>
                <a:latin typeface="Century Gothic"/>
                <a:ea typeface="Century Gothic"/>
                <a:cs typeface="Century Gothic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8E6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26B68"/>
                </a:solidFill>
                <a:latin typeface="Century Gothic"/>
                <a:ea typeface="Century Gothic"/>
                <a:cs typeface="Century Gothic"/>
              </a:defRPr>
            </a:pPr>
          </a:p>
        </c:txPr>
        <c:crossAx val="48650112"/>
        <c:crossBetween val="between"/>
        <c:majorUnit val="2"/>
      </c:valAx>
      <c:spPr>
        <ns0:noFill xmlns:ns0="http://schemas.openxmlformats.org/drawingml/2006/main"/>
        <a:ln xmlns:a="http://schemas.openxmlformats.org/drawingml/2006/main" w="0">
          <a:noFill/>
        </a:ln>
      </c:spPr>
    </c:plotArea>
    <c:plotVisOnly val="1"/>
  </c:chart>
  <c:spPr>
    <ns0:noFill xmlns:ns0="http://schemas.openxmlformats.org/drawingml/2006/main"/>
    <a:ln xmlns:a="http://schemas.openxmlformats.org/drawingml/2006/main" w="0">
      <a:noFill/>
    </a:ln>
  </c:spPr>
  <c:externalData xmlns:r="http://schemas.openxmlformats.org/officeDocument/2006/relationships" r:id="rIdWorkbook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073DD30-E5DD-FA39-6297-5820BB991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7B6BE6-3C59-D279-407F-87A86D61CC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A6EA2-FCCB-46F1-B3F7-11ED528722D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A4055-0DE4-1D66-5EA2-EFC9DFE20C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CD5E0-1013-6BE2-556E-127E65CEA7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63B9AB-435B-4E5E-8032-7CC60D9C34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484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0F241223-820A-402B-968D-22471178E44D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11071C7-A215-4FCA-88CB-65E3A4171D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049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1071C7-A215-4FCA-88CB-65E3A4171DC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508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838200"/>
            <a:ext cx="11506200" cy="18288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279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819400"/>
            <a:ext cx="11506200" cy="2971800"/>
          </a:xfrm>
        </p:spPr>
        <p:txBody>
          <a:bodyPr>
            <a:normAutofit/>
          </a:bodyPr>
          <a:lstStyle>
            <a:lvl1pPr marL="0" indent="0" algn="ctr">
              <a:buNone/>
              <a:defRPr sz="1350" u="none" baseline="0">
                <a:solidFill>
                  <a:schemeClr val="tx1"/>
                </a:solidFill>
                <a:uFill>
                  <a:solidFill>
                    <a:schemeClr val="bg1"/>
                  </a:solidFill>
                </a:uFill>
              </a:defRPr>
            </a:lvl1pPr>
            <a:lvl2pPr marL="192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857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786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64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57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50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11099804" y="6206109"/>
            <a:ext cx="71120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07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ts val="45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FC2192B-6256-404E-978F-861D70E855E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299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71607"/>
            <a:ext cx="10363200" cy="2505075"/>
          </a:xfrm>
        </p:spPr>
        <p:txBody>
          <a:bodyPr anchor="b"/>
          <a:lstStyle>
            <a:lvl1pPr algn="ctr" defTabSz="3857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rgbClr val="FF0000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68770"/>
            <a:ext cx="10363200" cy="113188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192881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2pPr>
            <a:lvl3pPr marL="385763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 marL="578644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4pPr>
            <a:lvl5pPr marL="771525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5pPr>
            <a:lvl6pPr marL="964406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6pPr>
            <a:lvl7pPr marL="1157288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7pPr>
            <a:lvl8pPr marL="1350169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8pPr>
            <a:lvl9pPr marL="1543050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45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52284"/>
            <a:ext cx="5740400" cy="4373880"/>
          </a:xfrm>
        </p:spPr>
        <p:txBody>
          <a:bodyPr/>
          <a:lstStyle>
            <a:lvl1pPr>
              <a:defRPr sz="1013"/>
            </a:lvl1pPr>
            <a:lvl2pPr>
              <a:defRPr sz="675"/>
            </a:lvl2pPr>
            <a:lvl3pPr>
              <a:defRPr sz="675"/>
            </a:lvl3pPr>
            <a:lvl4pPr>
              <a:defRPr sz="675"/>
            </a:lvl4pPr>
            <a:lvl5pPr>
              <a:defRPr sz="675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1752600"/>
            <a:ext cx="5571744" cy="43738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4098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5386917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1013" b="0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5" y="1600200"/>
            <a:ext cx="5389033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1013" b="0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12848"/>
            <a:ext cx="5388864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230112" y="2212855"/>
            <a:ext cx="5388864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089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5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46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6119" y="266700"/>
            <a:ext cx="4011084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1181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854" y="273057"/>
            <a:ext cx="6661151" cy="5853113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6119" y="2438407"/>
            <a:ext cx="4011084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675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66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6" y="228600"/>
            <a:ext cx="7615765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1181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0836" y="1143000"/>
            <a:ext cx="8072965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6" y="5810250"/>
            <a:ext cx="7615765" cy="533400"/>
          </a:xfrm>
        </p:spPr>
        <p:txBody>
          <a:bodyPr>
            <a:normAutofit/>
          </a:bodyPr>
          <a:lstStyle>
            <a:lvl1pPr marL="0" indent="0" algn="ctr">
              <a:buNone/>
              <a:defRPr sz="675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821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14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84463" y="6356357"/>
            <a:ext cx="27813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31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BA533-993F-4673-AF71-5367DA515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346AF-2680-4234-A255-C029307EC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F022EA-6A1A-4E53-8280-3DDDA639F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3A98A-E467-46E0-B0DB-58D3A5180A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E0FF6-26DA-4361-AA95-24D19C48B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38E45C-C79F-4C53-B997-B18B54EF2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73B3E9-563D-42CB-92F3-E7811036C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4D63A0-FD90-46C6-9391-A6E88D20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4796D-1B52-4785-950F-316E27378560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79278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796621" y="456125"/>
            <a:ext cx="10785779" cy="1034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800" b="1" i="0" baseline="0">
                <a:solidFill>
                  <a:srgbClr val="ABBB1C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l"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THIS IS A TITLE BLOCK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794483" y="1759058"/>
            <a:ext cx="9787917" cy="416955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indent="-457200">
              <a:lnSpc>
                <a:spcPct val="100000"/>
              </a:lnSpc>
              <a:buFont typeface="Arial" charset="0"/>
              <a:buChar char="•"/>
              <a:defRPr sz="1800" b="0" i="0" baseline="0">
                <a:solidFill>
                  <a:srgbClr val="585858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l"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ENTER POINT 1</a:t>
            </a:r>
          </a:p>
          <a:p>
            <a:pPr lvl="0"/>
            <a:r>
              <a:rPr lang="en-US" dirty="0"/>
              <a:t>ENTER POINT 2</a:t>
            </a:r>
          </a:p>
          <a:p>
            <a:pPr lvl="0"/>
            <a:r>
              <a:rPr lang="en-US" dirty="0"/>
              <a:t>ENTER POINT 3</a:t>
            </a:r>
          </a:p>
          <a:p>
            <a:pPr lvl="0"/>
            <a:r>
              <a:rPr lang="en-US" dirty="0"/>
              <a:t>ENTER POINT 4</a:t>
            </a:r>
          </a:p>
          <a:p>
            <a:pPr lvl="0"/>
            <a:r>
              <a:rPr lang="en-US" dirty="0"/>
              <a:t>ENTER POINT 5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609601" y="6356351"/>
            <a:ext cx="406658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1201" y="6356351"/>
            <a:ext cx="71120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FC2192B-6256-404E-978F-861D70E855E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73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76200"/>
            <a:ext cx="11633200" cy="1524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752600"/>
            <a:ext cx="11633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26804" y="6325499"/>
            <a:ext cx="711201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r">
              <a:defRPr sz="1200">
                <a:solidFill>
                  <a:schemeClr val="tx1"/>
                </a:solidFill>
                <a:latin typeface="Century Gothic" pitchFamily="34" charset="0"/>
              </a:defRPr>
            </a:lvl1pPr>
          </a:lstStyle>
          <a:p>
            <a:fld id="{8BD65E2A-085E-4109-AA42-D98F53ECF10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A close-up of a sign&#10;&#10;AI-generated content may be incorrect.">
            <a:extLst>
              <a:ext uri="{FF2B5EF4-FFF2-40B4-BE49-F238E27FC236}">
                <a16:creationId xmlns:a16="http://schemas.microsoft.com/office/drawing/2014/main" id="{B934E26C-942B-6B0C-8E68-AFF4F177C067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5" y="6213036"/>
            <a:ext cx="216217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48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</p:sldLayoutIdLst>
  <p:hf hdr="0" ftr="0" dt="0"/>
  <p:txStyles>
    <p:titleStyle>
      <a:lvl1pPr algn="ctr" defTabSz="385763" rtl="0" eaLnBrk="1" latinLnBrk="0" hangingPunct="1">
        <a:lnSpc>
          <a:spcPct val="100000"/>
        </a:lnSpc>
        <a:spcBef>
          <a:spcPct val="0"/>
        </a:spcBef>
        <a:buNone/>
        <a:defRPr sz="5000" kern="1200">
          <a:solidFill>
            <a:srgbClr val="FF0000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144661" indent="-144661" algn="l" defTabSz="38576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313433" indent="-120551" algn="l" defTabSz="385763" rtl="0" eaLnBrk="1" latinLnBrk="0" hangingPunct="1">
        <a:spcBef>
          <a:spcPct val="20000"/>
        </a:spcBef>
        <a:buFont typeface="Courier New" pitchFamily="49" charset="0"/>
        <a:buChar char="o"/>
        <a:defRPr sz="2200" kern="1200">
          <a:solidFill>
            <a:schemeClr val="tx1"/>
          </a:solidFill>
          <a:latin typeface="+mj-lt"/>
          <a:ea typeface="+mn-ea"/>
          <a:cs typeface="+mn-cs"/>
        </a:defRPr>
      </a:lvl2pPr>
      <a:lvl3pPr marL="482204" indent="-96441" algn="l" defTabSz="38576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675085" indent="-96441" algn="l" defTabSz="385763" rtl="0" eaLnBrk="1" latinLnBrk="0" hangingPunct="1">
        <a:spcBef>
          <a:spcPct val="20000"/>
        </a:spcBef>
        <a:buFont typeface="Courier New" pitchFamily="49" charset="0"/>
        <a:buChar char="o"/>
        <a:defRPr sz="675" kern="1200">
          <a:solidFill>
            <a:schemeClr val="tx1"/>
          </a:solidFill>
          <a:latin typeface="+mj-lt"/>
          <a:ea typeface="+mn-ea"/>
          <a:cs typeface="+mn-cs"/>
        </a:defRPr>
      </a:lvl4pPr>
      <a:lvl5pPr marL="867966" indent="-96441" algn="l" defTabSz="385763" rtl="0" eaLnBrk="1" latinLnBrk="0" hangingPunct="1">
        <a:spcBef>
          <a:spcPct val="20000"/>
        </a:spcBef>
        <a:buFont typeface="Arial" pitchFamily="34" charset="0"/>
        <a:buChar char="•"/>
        <a:defRPr sz="675" kern="1200">
          <a:solidFill>
            <a:schemeClr val="tx1"/>
          </a:solidFill>
          <a:latin typeface="+mj-lt"/>
          <a:ea typeface="+mn-ea"/>
          <a:cs typeface="+mn-cs"/>
        </a:defRPr>
      </a:lvl5pPr>
      <a:lvl6pPr marL="1060847" indent="-96441" algn="l" defTabSz="385763" rtl="0" eaLnBrk="1" latinLnBrk="0" hangingPunct="1">
        <a:spcBef>
          <a:spcPct val="20000"/>
        </a:spcBef>
        <a:buFont typeface="Courier New" pitchFamily="49" charset="0"/>
        <a:buChar char="o"/>
        <a:defRPr sz="675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1253729" indent="-96441" algn="l" defTabSz="385763" rtl="0" eaLnBrk="1" latinLnBrk="0" hangingPunct="1">
        <a:spcBef>
          <a:spcPct val="20000"/>
        </a:spcBef>
        <a:buFont typeface="Arial" pitchFamily="34" charset="0"/>
        <a:buChar char="•"/>
        <a:defRPr sz="675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1446610" indent="-96441" algn="l" defTabSz="385763" rtl="0" eaLnBrk="1" latinLnBrk="0" hangingPunct="1">
        <a:spcBef>
          <a:spcPct val="20000"/>
        </a:spcBef>
        <a:buFont typeface="Courier New" pitchFamily="49" charset="0"/>
        <a:buChar char="o"/>
        <a:defRPr sz="675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1639491" indent="-96441" algn="l" defTabSz="385763" rtl="0" eaLnBrk="1" latinLnBrk="0" hangingPunct="1">
        <a:spcBef>
          <a:spcPct val="20000"/>
        </a:spcBef>
        <a:buFont typeface="Arial" pitchFamily="34" charset="0"/>
        <a:buChar char="•"/>
        <a:defRPr sz="675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Population" Type="http://schemas.openxmlformats.org/officeDocument/2006/relationships/chart" Target="../charts/population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0" Type="http://schemas.openxmlformats.org/officeDocument/2006/relationships/image" Target="../media/irish-in-america-book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ceph.ie/data-set/schools-in-ireland-1824-5/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93/ereh/heae012" TargetMode="External"/><Relationship Id="rId2" Type="http://schemas.openxmlformats.org/officeDocument/2006/relationships/hyperlink" Target="https://doi.org/10.1111/ehr.1233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111/ehr.70013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93/ereh/heae012" TargetMode="External"/><Relationship Id="rId2" Type="http://schemas.openxmlformats.org/officeDocument/2006/relationships/hyperlink" Target="https://www.rte.ie/brainstorm/2024/1017/1475988-age-heaping-statistics-ireland-censu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ptLMWCMrq8?feature=oembed" TargetMode="Externa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te.ie/brainstorm/2025/0807/1512781-great-irish-famine-health-effects-data-research-height-malnutrition/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0" Type="http://schemas.openxmlformats.org/officeDocument/2006/relationships/image" Target="../media/workhouse-mobile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Reading0" Type="http://schemas.openxmlformats.org/officeDocument/2006/relationships/hyperlink" Target="https://doi.org/10.1017/S1361491602000163" TargetMode="External"/><Relationship Id="rIdReading1" Type="http://schemas.openxmlformats.org/officeDocument/2006/relationships/hyperlink" Target="https://doi.org/10.1111/ehr.12274" TargetMode="External"/><Relationship Id="rIdReading2" Type="http://schemas.openxmlformats.org/officeDocument/2006/relationships/hyperlink" Target="https://doi.org/10.1017/S002205071900010X" TargetMode="External"/><Relationship Id="rIdReading3" Type="http://schemas.openxmlformats.org/officeDocument/2006/relationships/hyperlink" Target="https://doi.org/10.1111/ehr.12815" TargetMode="External"/><Relationship Id="rIdReading4" Type="http://schemas.openxmlformats.org/officeDocument/2006/relationships/hyperlink" Target="https://doi.org/10.1215/00703370-10218438" TargetMode="External"/><Relationship Id="rIdReading5" Type="http://schemas.openxmlformats.org/officeDocument/2006/relationships/hyperlink" Target="https://doi.org/10.1111/ehr.70013" TargetMode="Externa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Source" Type="http://schemas.openxmlformats.org/officeDocument/2006/relationships/hyperlink" Target="https://www.economicsobservatory.com/the-great-irish-famine-what-are-the-lessons-for-policy-makers-today" TargetMode="External"/><Relationship Id="rIdRailway" Type="http://schemas.openxmlformats.org/officeDocument/2006/relationships/image" Target="../media/railways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Source" Type="http://schemas.openxmlformats.org/officeDocument/2006/relationships/hyperlink" Target="https://www.economicsobservatory.com/the-great-irish-famine-what-are-the-lessons-for-policy-makers-today" TargetMode="Externa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Email" Type="http://schemas.openxmlformats.org/officeDocument/2006/relationships/hyperlink" Target="mailto:chris.colvin@qub.ac.uk" TargetMode="Externa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4400" dirty="0"/>
              <a:t>Death, Migration and the </a:t>
            </a:r>
            <a:br>
              <a:rPr lang="en-GB" sz="4400" dirty="0"/>
            </a:br>
            <a:r>
              <a:rPr lang="en-GB" sz="4400" dirty="0"/>
              <a:t>Great Irish Famine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2209800" y="2971800"/>
            <a:ext cx="7772400" cy="2209800"/>
          </a:xfrm>
        </p:spPr>
        <p:txBody>
          <a:bodyPr>
            <a:normAutofit lnSpcReduction="10000"/>
          </a:bodyPr>
          <a:lstStyle/>
          <a:p>
            <a:pPr marL="0" indent="0">
              <a:buNone/>
              <a:spcAft>
                <a:spcPts val="2200"/>
              </a:spcAft>
            </a:pPr>
            <a:r>
              <a:rPr lang="en-GB" sz="2400"/>
              <a:t>Dr Chris Colvin</a:t>
            </a:r>
          </a:p>
          <a:p>
            <a:pPr marL="0" indent="0">
              <a:buNone/>
              <a:spcAft>
                <a:spcPts val="2200"/>
              </a:spcAft>
            </a:pPr>
            <a:r>
              <a:rPr lang="en-GB" sz="2400"/>
              <a:t>Queen’s University Belfast</a:t>
            </a:r>
          </a:p>
          <a:p>
            <a:pPr marL="0" indent="0">
              <a:buNone/>
              <a:spcAft>
                <a:spcPts val="2200"/>
              </a:spcAft>
            </a:pPr>
            <a:r>
              <a:rPr lang="en-GB" sz="2400"/>
              <a:t>November 2025</a:t>
            </a:r>
          </a:p>
        </p:txBody>
      </p:sp>
    </p:spTree>
    <p:extLst>
      <p:ext uri="{BB962C8B-B14F-4D97-AF65-F5344CB8AC3E}">
        <p14:creationId xmlns:p14="http://schemas.microsoft.com/office/powerpoint/2010/main" val="603878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GB"/>
              <a:t>Lecture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66875"/>
            <a:ext cx="11430000" cy="4143375"/>
          </a:xfrm>
        </p:spPr>
        <p:txBody>
          <a:bodyPr/>
          <a:lstStyle/>
          <a:p>
            <a:pPr>
              <a:spcAft>
                <a:spcPts val="1300"/>
              </a:spcAft>
              <a:buNone/>
            </a:pPr>
            <a:r>
              <a:rPr lang="en-GB" sz="2300"/>
              <a:t>Part I: Why was the Famine Irish?</a:t>
            </a:r>
          </a:p>
          <a:p>
            <a:pPr>
              <a:spcAft>
                <a:spcPts val="1300"/>
              </a:spcAft>
              <a:buNone/>
            </a:pPr>
            <a:r>
              <a:rPr lang="en-GB" sz="2300"/>
              <a:t>Part II: Measuring the human impact of the Famine</a:t>
            </a:r>
          </a:p>
          <a:p>
            <a:pPr>
              <a:spcAft>
                <a:spcPts val="1300"/>
              </a:spcAft>
              <a:buNone/>
            </a:pPr>
            <a:r>
              <a:rPr lang="en-GB" sz="2300"/>
              <a:t>Part III: Famine and government policy</a:t>
            </a:r>
          </a:p>
          <a:p>
            <a:pPr>
              <a:spcAft>
                <a:spcPts val="1300"/>
              </a:spcAft>
              <a:buNone/>
            </a:pPr>
            <a:r>
              <a:rPr lang="en-GB" sz="2300"/>
              <a:t>Part IV: Migration as disaster relief</a:t>
            </a:r>
          </a:p>
          <a:p>
            <a:pPr>
              <a:spcAft>
                <a:spcPts val="1300"/>
              </a:spcAft>
              <a:buNone/>
            </a:pPr>
            <a:r>
              <a:rPr lang="en-GB" sz="2300"/>
              <a:t>Part V: Post-Famine development and convergence</a:t>
            </a:r>
          </a:p>
          <a:p>
            <a:pPr>
              <a:spcAft>
                <a:spcPts val="1300"/>
              </a:spcAft>
              <a:buNone/>
            </a:pPr>
            <a:r>
              <a:rPr lang="en-GB" sz="2300"/>
              <a:t>Part VI: Prison registers as a source of cliometric history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254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Great Irish Famine, 1845-1852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Mystery pathogen </a:t>
            </a:r>
            <a:r>
              <a:rPr lang="en-IE" i="1" dirty="0"/>
              <a:t>Phytophthora </a:t>
            </a:r>
            <a:r>
              <a:rPr lang="en-IE" i="1" dirty="0" err="1"/>
              <a:t>infestans</a:t>
            </a:r>
            <a:r>
              <a:rPr lang="en-IE" dirty="0"/>
              <a:t>,</a:t>
            </a:r>
            <a:br>
              <a:rPr lang="en-IE" dirty="0"/>
            </a:br>
            <a:r>
              <a:rPr lang="en-IE" dirty="0"/>
              <a:t>known as the potato blight</a:t>
            </a:r>
          </a:p>
          <a:p>
            <a:r>
              <a:rPr lang="en-IE" u="sng" dirty="0"/>
              <a:t>No remedy found until the 1890s</a:t>
            </a:r>
          </a:p>
          <a:p>
            <a:r>
              <a:rPr lang="en-IE" dirty="0"/>
              <a:t>About 1/3 of potato crop lost in 1845</a:t>
            </a:r>
          </a:p>
          <a:p>
            <a:r>
              <a:rPr lang="en-IE" dirty="0"/>
              <a:t>Near total failure of potato crop in 1846</a:t>
            </a:r>
          </a:p>
          <a:p>
            <a:r>
              <a:rPr lang="en-IE" dirty="0"/>
              <a:t>Higher yields in 1847, but significantly reduced acreage </a:t>
            </a:r>
          </a:p>
          <a:p>
            <a:r>
              <a:rPr lang="en-IE" dirty="0"/>
              <a:t>Another failure 1848</a:t>
            </a:r>
          </a:p>
          <a:p>
            <a:r>
              <a:rPr lang="en-IE" dirty="0"/>
              <a:t>Excess mortality from summer of 1846</a:t>
            </a:r>
          </a:p>
          <a:p>
            <a:r>
              <a:rPr lang="en-IE" dirty="0"/>
              <a:t>Peaked in 1847-1848, but continued until 1850-1851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72665">
            <a:off x="7615514" y="517971"/>
            <a:ext cx="4407696" cy="37490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6991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Ireland's population, 1820s-1910s</a:t>
            </a:r>
            <a:br>
              <a:rPr lang="en-GB" dirty="0"/>
            </a:b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077200" y="1753827"/>
            <a:ext cx="3149604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In 1841, Ireland’s population was 45% the size of Great Britain’s (or about 1/3 of total UK population)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 1901, it is just 12% (or about 10% of total UK)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="361950" y="1809750"/>
          <a:ext cx="7219950" cy="3667125"/>
        </p:xfrm>
        <a:graphic>
          <a:graphicData uri="http://schemas.openxmlformats.org/drawingml/2006/chart">
            <c:chart xmlns:c="http://schemas.openxmlformats.org/drawingml/2006/chart" r:id="rIdPopulation"/>
          </a:graphicData>
        </a:graphic>
      </p:graphicFrame>
      <p:sp>
        <p:nvSpPr>
          <p:cNvPr id="107" name="Source or label"/>
          <p:cNvSpPr txBox="1"/>
          <p:nvPr/>
        </p:nvSpPr>
        <p:spPr>
          <a:xfrm>
            <a:off x="428625" y="1476375"/>
            <a:ext cx="7143750" cy="285750"/>
          </a:xfrm>
        </p:spPr>
        <p:txBody>
          <a:bodyPr lIns="0" rIns="0" tIns="0" bIns="0"/>
          <a:lstStyle/>
          <a:p>
            <a:pPr>
              <a:buNone/>
            </a:pPr>
            <a:r>
              <a:rPr sz="1700">
                <a:solidFill>
                  <a:srgbClr val="555555"/>
                </a:solidFill>
                <a:latin typeface="Century Gothic"/>
              </a:rPr>
              <a:t>Population (millions), all-island Ireland</a:t>
            </a:r>
          </a:p>
        </p:txBody>
      </p:sp>
      <p:sp>
        <p:nvSpPr>
          <p:cNvPr id="108" name="Source or label"/>
          <p:cNvSpPr txBox="1"/>
          <p:nvPr/>
        </p:nvSpPr>
        <p:spPr>
          <a:xfrm>
            <a:off x="428625" y="5762625"/>
            <a:ext cx="7429500" cy="266700"/>
          </a:xfrm>
        </p:spPr>
        <p:txBody>
          <a:bodyPr lIns="0" rIns="0" tIns="0" bIns="0"/>
          <a:lstStyle/>
          <a:p>
            <a:pPr>
              <a:buNone/>
            </a:pPr>
            <a:r>
              <a:rPr sz="1200">
                <a:solidFill>
                  <a:srgbClr val="555555"/>
                </a:solidFill>
                <a:latin typeface="Century Gothic"/>
              </a:rPr>
              <a:t>Source: Census of Ireland, 1911, General Report, Table 43</a:t>
            </a:r>
          </a:p>
        </p:txBody>
      </p:sp>
    </p:spTree>
    <p:extLst>
      <p:ext uri="{BB962C8B-B14F-4D97-AF65-F5344CB8AC3E}">
        <p14:creationId xmlns:p14="http://schemas.microsoft.com/office/powerpoint/2010/main" val="3136845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Population decrease</a:t>
            </a:r>
            <a:br>
              <a:rPr lang="en-GB" sz="4000" dirty="0"/>
            </a:br>
            <a:r>
              <a:rPr lang="en-GB" sz="4000" i="1" dirty="0"/>
              <a:t>and</a:t>
            </a:r>
            <a:r>
              <a:rPr lang="en-GB" sz="4000" dirty="0"/>
              <a:t> increase</a:t>
            </a: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916" y="1752601"/>
            <a:ext cx="3453869" cy="4373563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412" y="1752601"/>
            <a:ext cx="3442676" cy="4373563"/>
          </a:xfrm>
        </p:spPr>
      </p:pic>
    </p:spTree>
    <p:extLst>
      <p:ext uri="{BB962C8B-B14F-4D97-AF65-F5344CB8AC3E}">
        <p14:creationId xmlns:p14="http://schemas.microsoft.com/office/powerpoint/2010/main" val="2289859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Famine as a watershed </a:t>
            </a:r>
            <a:br>
              <a:rPr lang="en-GB" dirty="0"/>
            </a:br>
            <a:r>
              <a:rPr lang="en-GB" dirty="0"/>
              <a:t>in Irish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Great Irish Famine is framed as the critical juncture in Ireland’s history</a:t>
            </a:r>
          </a:p>
          <a:p>
            <a:r>
              <a:rPr lang="en-GB" dirty="0"/>
              <a:t>The blight was an external shock; its consequences depended on institutions and policy</a:t>
            </a:r>
          </a:p>
          <a:p>
            <a:r>
              <a:rPr lang="en-GB" dirty="0"/>
              <a:t>It deepens significant demographic and structural change that started already in the pre-Famine era</a:t>
            </a:r>
          </a:p>
          <a:p>
            <a:r>
              <a:rPr lang="en-GB" dirty="0"/>
              <a:t>All groups in society in all parts of the island were affected by the Famine, but to varying degrees, and in varying ways</a:t>
            </a:r>
          </a:p>
          <a:p>
            <a:r>
              <a:rPr lang="en-GB" dirty="0"/>
              <a:t>Its causes and consequences are still actively debated today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2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Famine </a:t>
            </a:r>
            <a:br>
              <a:rPr lang="en-GB" dirty="0"/>
            </a:br>
            <a:r>
              <a:rPr lang="en-GB" dirty="0"/>
              <a:t>from Steve Coogan…</a:t>
            </a:r>
          </a:p>
        </p:txBody>
      </p:sp>
      <p:pic>
        <p:nvPicPr>
          <p:cNvPr id="6" name="greenock Alan Partridge on the Potato Famine.wmv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4460" b="4015"/>
          <a:stretch/>
        </p:blipFill>
        <p:spPr>
          <a:xfrm>
            <a:off x="3206750" y="1828800"/>
            <a:ext cx="5778500" cy="398145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24200" y="5943600"/>
            <a:ext cx="510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>
                <a:latin typeface="+mj-lt"/>
              </a:rPr>
              <a:t>I’m Alan Partridge</a:t>
            </a:r>
            <a:r>
              <a:rPr lang="en-GB" sz="1600" dirty="0">
                <a:latin typeface="+mj-lt"/>
              </a:rPr>
              <a:t>, Series 1, Episode 5</a:t>
            </a:r>
          </a:p>
        </p:txBody>
      </p:sp>
    </p:spTree>
    <p:extLst>
      <p:ext uri="{BB962C8B-B14F-4D97-AF65-F5344CB8AC3E}">
        <p14:creationId xmlns:p14="http://schemas.microsoft.com/office/powerpoint/2010/main" val="1993055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…to Tim Pat Coogan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Generations of Famine scholars have reinterpreted the catastrophe in light of nationalist politics</a:t>
            </a:r>
          </a:p>
          <a:p>
            <a:r>
              <a:rPr lang="en-GB" dirty="0"/>
              <a:t>One popular history attempt is Tim Pat Coogan’s </a:t>
            </a:r>
            <a:r>
              <a:rPr lang="en-GB" i="1" dirty="0"/>
              <a:t>The Famine Plot: England’s Role in Ireland’s Greatest Tragedy </a:t>
            </a:r>
            <a:r>
              <a:rPr lang="en-GB" dirty="0"/>
              <a:t>(2012)</a:t>
            </a:r>
          </a:p>
          <a:p>
            <a:r>
              <a:rPr lang="en-GB" dirty="0"/>
              <a:t>The view holds that excess mortality was due to negligent government, or worse still, an English plan to actively eradicate the Irish</a:t>
            </a:r>
          </a:p>
          <a:p>
            <a:r>
              <a:rPr lang="en-GB" u="sng" dirty="0"/>
              <a:t>We will look at cliometric inquiry into the Famine and set these cultural/popular histories aside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872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New Economic History </a:t>
            </a:r>
            <a:br>
              <a:rPr lang="en-GB" dirty="0"/>
            </a:br>
            <a:r>
              <a:rPr lang="en-GB" dirty="0"/>
              <a:t>of the Famine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Famine scholars in the New Economic History tradition include:</a:t>
            </a:r>
          </a:p>
          <a:p>
            <a:pPr lvl="1"/>
            <a:r>
              <a:rPr lang="en-GB" dirty="0"/>
              <a:t>Joel </a:t>
            </a:r>
            <a:r>
              <a:rPr lang="en-GB" dirty="0" err="1"/>
              <a:t>Mokyr</a:t>
            </a:r>
            <a:r>
              <a:rPr lang="en-GB" dirty="0"/>
              <a:t> (</a:t>
            </a:r>
            <a:r>
              <a:rPr lang="en-GB" dirty="0" err="1"/>
              <a:t>Northwestern</a:t>
            </a:r>
            <a:r>
              <a:rPr lang="en-GB" dirty="0"/>
              <a:t> University)</a:t>
            </a:r>
          </a:p>
          <a:p>
            <a:pPr lvl="1"/>
            <a:r>
              <a:rPr lang="en-GB" dirty="0"/>
              <a:t>Cormac </a:t>
            </a:r>
            <a:r>
              <a:rPr lang="en-GB" dirty="0" err="1"/>
              <a:t>Ó</a:t>
            </a:r>
            <a:r>
              <a:rPr lang="en-GB" dirty="0"/>
              <a:t> </a:t>
            </a:r>
            <a:r>
              <a:rPr lang="en-GB" dirty="0" err="1"/>
              <a:t>Gráda</a:t>
            </a:r>
            <a:r>
              <a:rPr lang="en-GB" dirty="0"/>
              <a:t> (UCD)</a:t>
            </a:r>
          </a:p>
          <a:p>
            <a:pPr lvl="1"/>
            <a:r>
              <a:rPr lang="en-GB" dirty="0"/>
              <a:t>Peter Solar (Free University Brussels)</a:t>
            </a:r>
          </a:p>
          <a:p>
            <a:pPr lvl="1"/>
            <a:r>
              <a:rPr lang="en-GB" dirty="0"/>
              <a:t>Liam Kennedy (QUB)</a:t>
            </a:r>
          </a:p>
          <a:p>
            <a:pPr lvl="1"/>
            <a:r>
              <a:rPr lang="en-GB" dirty="0"/>
              <a:t>Alan Fernihough (QUB)</a:t>
            </a:r>
          </a:p>
          <a:p>
            <a:pPr lvl="1"/>
            <a:r>
              <a:rPr lang="en-GB" dirty="0"/>
              <a:t>Eoin McLaughlin (Heriot-Watt)</a:t>
            </a:r>
          </a:p>
          <a:p>
            <a:r>
              <a:rPr lang="en-GB" dirty="0"/>
              <a:t>The hallmark of this work is quantification, explicit use of theory, scientific approach to causality, and de-politicised rhetoric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182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3F0517-0D88-8AF8-77F2-F11ABC1E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GB" dirty="0"/>
              <a:t>Part I:</a:t>
            </a:r>
            <a:br>
              <a:rPr lang="en-GB" dirty="0"/>
            </a:br>
            <a:r>
              <a:rPr lang="en-GB" dirty="0"/>
              <a:t>Why was the </a:t>
            </a:r>
            <a:br>
              <a:rPr lang="en-GB" dirty="0"/>
            </a:br>
            <a:r>
              <a:rPr lang="en-GB" dirty="0"/>
              <a:t>Famine Irish?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9C3D9C-B2B8-97E2-FAC8-14297FDB1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Joel Mokyr, </a:t>
            </a:r>
            <a:r>
              <a:rPr lang="en-GB" i="1" dirty="0"/>
              <a:t>Why Ireland Starved </a:t>
            </a:r>
            <a:r>
              <a:rPr lang="en-GB" dirty="0"/>
              <a:t>(London, 1985)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3F7C6BB6-F73D-89CE-8065-DD346D04E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9FC2192B-6256-404E-978F-861D70E855E1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49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Potato 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Other European countries experienced blight in 1840s (especially Belgium), but with lower impact</a:t>
            </a:r>
          </a:p>
          <a:p>
            <a:r>
              <a:rPr lang="en-IE" u="sng" dirty="0"/>
              <a:t>Why was Ireland so different?</a:t>
            </a:r>
          </a:p>
          <a:p>
            <a:r>
              <a:rPr lang="en-IE" dirty="0"/>
              <a:t>The simple answer is the Irish had a significantly higher dependency on potatoes </a:t>
            </a:r>
          </a:p>
          <a:p>
            <a:r>
              <a:rPr lang="en-IE" dirty="0"/>
              <a:t>When the potato failed, there was no cheaper alternative available, at least not immediately</a:t>
            </a:r>
          </a:p>
          <a:p>
            <a:r>
              <a:rPr lang="en-IE" u="sng" dirty="0"/>
              <a:t>Understanding the Famine’s causes is about understanding Ireland’s potato dependence</a:t>
            </a:r>
          </a:p>
          <a:p>
            <a:r>
              <a:rPr lang="en-IE" dirty="0"/>
              <a:t>Understanding the consequences is about understanding Ireland’s failure to properly benefit from the UK’s Industrial Revolution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491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0DDB-4BC4-4F79-ACEA-E3DED5B7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Mokyr’s cliometrics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65DF8-AA0D-448A-9E2F-34121564D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Joel Mokyr’s 1983 book is set up as a horse race between </a:t>
            </a:r>
            <a:br>
              <a:rPr lang="en-GB" dirty="0"/>
            </a:br>
            <a:r>
              <a:rPr lang="en-GB" dirty="0"/>
              <a:t>seven sets of factors, which he looks at separately:</a:t>
            </a:r>
          </a:p>
          <a:p>
            <a:pPr marL="0" indent="0">
              <a:buNone/>
            </a:pPr>
            <a:endParaRPr lang="en-GB" sz="1400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Population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Entrepreneurial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Political and institutional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Social and ethnic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Geographical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Capital formation factors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Emigration factors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B707A-9904-459C-8F9B-5E33000A5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9E3EC4B-4C6C-B310-9FE0-F887CD65A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4062">
            <a:off x="9050431" y="1810898"/>
            <a:ext cx="2703544" cy="45042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7277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Population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Starting point: classical Malthusian view that Ireland was an example of overpopulation</a:t>
            </a:r>
          </a:p>
          <a:p>
            <a:r>
              <a:rPr lang="en-GB" dirty="0" err="1"/>
              <a:t>Mokyr</a:t>
            </a:r>
            <a:r>
              <a:rPr lang="en-GB" dirty="0"/>
              <a:t> compares the 1821 and 1841 censuses to calculate birth, death and net migration rates</a:t>
            </a:r>
          </a:p>
          <a:p>
            <a:r>
              <a:rPr lang="en-GB" dirty="0"/>
              <a:t>Propensity to marry and infant mortality rates not drastically dissimilar to other parts of Europe</a:t>
            </a:r>
          </a:p>
          <a:p>
            <a:r>
              <a:rPr lang="en-GB" dirty="0"/>
              <a:t>Tests for overpopulation (size of population exceeds level which maximises income per capita)</a:t>
            </a:r>
          </a:p>
          <a:p>
            <a:r>
              <a:rPr lang="en-GB" dirty="0"/>
              <a:t>Mokyr’s tests did not support overpopulation</a:t>
            </a:r>
          </a:p>
          <a:p>
            <a:r>
              <a:rPr lang="en-GB" u="sng" dirty="0"/>
              <a:t>“Famine inevitability” hypotheses not supported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999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Provincial population growth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5334000"/>
            <a:ext cx="10477500" cy="666750"/>
          </a:xfrm>
        </p:spPr>
        <p:txBody>
          <a:bodyPr/>
          <a:lstStyle/>
          <a:p>
            <a:pPr marL="0" indent="0">
              <a:buNone/>
            </a:pPr>
            <a:r>
              <a:rPr sz="2400"/>
              <a:t>Population growth declined in the two decades before the Famine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40" name=""/>
          <p:cNvGraphicFramePr/>
          <p:nvPr/>
        </p:nvGraphicFramePr>
        <p:xfrm>
          <a:off x="857250" y="1809750"/>
          <a:ext cx="10477500" cy="3476625"/>
        </p:xfrm>
        <a:graphic>
          <a:graphicData uri="http://schemas.openxmlformats.org/drawingml/2006/table">
            <a:tbl>
              <a:tblPr/>
              <a:tblGrid>
                <a:gridCol w="2762250"/>
                <a:gridCol w="2571750"/>
                <a:gridCol w="2571750"/>
                <a:gridCol w="2571750"/>
              </a:tblGrid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Province</a:t>
                      </a:r>
                    </a:p>
                  </a:txBody>
                  <a:tcPr marL="91440" marR="91440" marT="45720" marB="45720" anchor="ctr">
                    <a:solidFill>
                      <a:srgbClr val="981F3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1753–1791</a:t>
                      </a:r>
                    </a:p>
                  </a:txBody>
                  <a:tcPr marL="91440" marR="91440" marT="45720" marB="45720" anchor="ctr">
                    <a:solidFill>
                      <a:srgbClr val="981F3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1791–1821</a:t>
                      </a:r>
                    </a:p>
                  </a:txBody>
                  <a:tcPr marL="91440" marR="91440" marT="45720" marB="45720" anchor="ctr">
                    <a:solidFill>
                      <a:srgbClr val="981F3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1821–1841</a:t>
                      </a:r>
                    </a:p>
                  </a:txBody>
                  <a:tcPr marL="91440" marR="91440" marT="45720" marB="45720" anchor="ctr">
                    <a:solidFill>
                      <a:srgbClr val="981F3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Leinster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1.0 to 1.4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0.6</a:t>
                      </a:r>
                    </a:p>
                  </a:txBody>
                  <a:tcPr marL="91440" marR="91440" marT="45720" marB="45720" anchor="ctr">
                    <a:solidFill>
                      <a:srgbClr val="F6EA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Munster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1.5 to 1.9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1.1</a:t>
                      </a:r>
                    </a:p>
                  </a:txBody>
                  <a:tcPr marL="91440" marR="91440" marT="45720" marB="45720" anchor="ctr">
                    <a:solidFill>
                      <a:srgbClr val="F6EA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Ulster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1.8 to 2.2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0.9</a:t>
                      </a:r>
                    </a:p>
                  </a:txBody>
                  <a:tcPr marL="91440" marR="91440" marT="45720" marB="45720" anchor="ctr">
                    <a:solidFill>
                      <a:srgbClr val="F6EA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Connacht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1.5 to 2.1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1.2</a:t>
                      </a:r>
                    </a:p>
                  </a:txBody>
                  <a:tcPr marL="91440" marR="91440" marT="45720" marB="45720" anchor="ctr">
                    <a:solidFill>
                      <a:srgbClr val="F6EA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Ireland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1.4 to 1.9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1.4 (1.6)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52B29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0.9 (0.6)</a:t>
                      </a:r>
                    </a:p>
                  </a:txBody>
                  <a:tcPr marL="91440" marR="91440" marT="45720" marB="45720" anchor="ctr">
                    <a:solidFill>
                      <a:srgbClr val="F6EA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F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7" name="Source or label"/>
          <p:cNvSpPr txBox="1"/>
          <p:nvPr/>
        </p:nvSpPr>
        <p:spPr>
          <a:xfrm>
            <a:off x="857250" y="1381125"/>
            <a:ext cx="9525000" cy="333375"/>
          </a:xfrm>
        </p:spPr>
        <p:txBody>
          <a:bodyPr lIns="0" rIns="0" tIns="0" bIns="0"/>
          <a:lstStyle/>
          <a:p>
            <a:pPr>
              <a:buNone/>
            </a:pPr>
            <a:r>
              <a:rPr sz="1900">
                <a:solidFill>
                  <a:srgbClr val="555555"/>
                </a:solidFill>
                <a:latin typeface="Century Gothic"/>
              </a:rPr>
              <a:t>Population growth (% per annum)</a:t>
            </a:r>
          </a:p>
        </p:txBody>
      </p:sp>
    </p:spTree>
    <p:extLst>
      <p:ext uri="{BB962C8B-B14F-4D97-AF65-F5344CB8AC3E}">
        <p14:creationId xmlns:p14="http://schemas.microsoft.com/office/powerpoint/2010/main" val="793834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Entrepreneurial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Ireland’s backwardness due to the absence of agents to take advantage of opportunities</a:t>
            </a:r>
          </a:p>
          <a:p>
            <a:r>
              <a:rPr lang="en-GB" dirty="0"/>
              <a:t>Absentee landlords and the plantations are central to this explanation (Land Tenure Hypothesis)</a:t>
            </a:r>
          </a:p>
          <a:p>
            <a:r>
              <a:rPr lang="en-GB" u="sng" dirty="0"/>
              <a:t>Principal-agent problem; little incentive for landlords or tenant farmers to improve land</a:t>
            </a:r>
          </a:p>
          <a:p>
            <a:r>
              <a:rPr lang="en-GB" dirty="0"/>
              <a:t>Using 1844 Devon Commission evidence, </a:t>
            </a:r>
            <a:r>
              <a:rPr lang="en-GB" dirty="0" err="1"/>
              <a:t>Mokyr</a:t>
            </a:r>
            <a:r>
              <a:rPr lang="en-GB" dirty="0"/>
              <a:t> finds quasi-predatory behaviour of landlords differed widely across the island</a:t>
            </a:r>
          </a:p>
          <a:p>
            <a:r>
              <a:rPr lang="en-GB" dirty="0"/>
              <a:t>Two-thirds of land in Ireland was held as long-leases on eve of Famine: </a:t>
            </a:r>
            <a:r>
              <a:rPr lang="en-GB" u="sng" dirty="0"/>
              <a:t>incentives did exist!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716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Political and </a:t>
            </a:r>
            <a:br>
              <a:rPr lang="en-GB" dirty="0"/>
            </a:br>
            <a:r>
              <a:rPr lang="en-GB" dirty="0"/>
              <a:t>institutional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u="sng" dirty="0"/>
              <a:t>Can the responsibility for economic backwardness be placed on Britain, either directly or indirectly?</a:t>
            </a:r>
          </a:p>
          <a:p>
            <a:r>
              <a:rPr lang="en-GB" dirty="0"/>
              <a:t>Wholesale confiscation of land in 17th century led to the Irish Land Question, which played central role in British politics in the late 19th century</a:t>
            </a:r>
          </a:p>
          <a:p>
            <a:r>
              <a:rPr lang="en-GB" dirty="0"/>
              <a:t>In decades before the Famine, the Land Question was an economic rather than political concern</a:t>
            </a:r>
          </a:p>
          <a:p>
            <a:r>
              <a:rPr lang="en-GB" dirty="0"/>
              <a:t>The economic effects of the Act of Union with Britain of 1800 (</a:t>
            </a:r>
            <a:r>
              <a:rPr lang="en-GB" dirty="0" err="1"/>
              <a:t>Solar’s</a:t>
            </a:r>
            <a:r>
              <a:rPr lang="en-GB" dirty="0"/>
              <a:t> work on market integration)</a:t>
            </a:r>
          </a:p>
          <a:p>
            <a:r>
              <a:rPr lang="en-GB" dirty="0"/>
              <a:t>Role of the Mercantilist policies (Corn Laws between 1815 and 1846)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642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Social and ethnic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Some contemporary observers believed characteristics of “the Irishman” were inconsistent with the requirements of economic growth</a:t>
            </a:r>
          </a:p>
          <a:p>
            <a:r>
              <a:rPr lang="en-GB" dirty="0"/>
              <a:t>Many of these sentiments boil down to racial and religious prejudice</a:t>
            </a:r>
          </a:p>
          <a:p>
            <a:r>
              <a:rPr lang="en-GB" dirty="0"/>
              <a:t>But not absurd that inter-regional and inter-religious differences existed in tastes, attitudes and customs</a:t>
            </a:r>
          </a:p>
          <a:p>
            <a:r>
              <a:rPr lang="en-GB" u="sng" dirty="0"/>
              <a:t>Certainly, social attitudes of Catholics towards Protestants (&amp; vice versa) important to understand rural conflict</a:t>
            </a:r>
          </a:p>
          <a:p>
            <a:r>
              <a:rPr lang="en-GB" dirty="0"/>
              <a:t>Relative profitability of pasture and tillage explains partly antagonistic relationship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145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Geographical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250" dirty="0"/>
              <a:t>Ireland’s ability to escape pre-industrial poverty trap was reduced by natural resource deficits</a:t>
            </a:r>
          </a:p>
          <a:p>
            <a:r>
              <a:rPr lang="en-GB" sz="2250" dirty="0"/>
              <a:t>Ireland lacked critical resources which played a central role to the Industrial Revolution, esp. coal</a:t>
            </a:r>
          </a:p>
          <a:p>
            <a:r>
              <a:rPr lang="en-GB" sz="2250" u="sng" dirty="0"/>
              <a:t>But </a:t>
            </a:r>
            <a:r>
              <a:rPr lang="en-GB" sz="2250" u="sng" dirty="0" err="1"/>
              <a:t>Mokyr</a:t>
            </a:r>
            <a:r>
              <a:rPr lang="en-GB" sz="2250" u="sng" dirty="0"/>
              <a:t> argues causal relationship hard to prove</a:t>
            </a:r>
          </a:p>
          <a:p>
            <a:r>
              <a:rPr lang="en-GB" sz="2250" dirty="0"/>
              <a:t>Coal was present in Ireland, just not exploited, and coal is anyway cheap to import across the sea</a:t>
            </a:r>
          </a:p>
          <a:p>
            <a:r>
              <a:rPr lang="en-GB" sz="2250" dirty="0"/>
              <a:t>Bob Allen-type fuel cost explanations only important if other costs the same, but they are not for Ireland</a:t>
            </a:r>
          </a:p>
          <a:p>
            <a:r>
              <a:rPr lang="en-GB" sz="2250" dirty="0"/>
              <a:t>Perhaps more important is that </a:t>
            </a:r>
            <a:r>
              <a:rPr lang="en-GB" sz="2250" u="sng" dirty="0"/>
              <a:t>soil quality</a:t>
            </a:r>
            <a:r>
              <a:rPr lang="en-GB" sz="2250" dirty="0"/>
              <a:t>, esp. in the west, was viewed as inferior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338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Capital formation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Accumulation of capital (in industry, agriculture and transportation) crucial to economic development</a:t>
            </a:r>
          </a:p>
          <a:p>
            <a:r>
              <a:rPr lang="en-GB" dirty="0"/>
              <a:t>Mokyr argues Ireland suffered from insufficient savings and limited access to investment finance</a:t>
            </a:r>
          </a:p>
          <a:p>
            <a:r>
              <a:rPr lang="en-GB" dirty="0"/>
              <a:t>Contemporaries complained of lack of fertiliser</a:t>
            </a:r>
          </a:p>
          <a:p>
            <a:r>
              <a:rPr lang="en-GB" u="sng" dirty="0"/>
              <a:t>Failure to move from “white crops” (cereals) to “green crops” (fodder) &amp; modern animal husbandry</a:t>
            </a:r>
          </a:p>
          <a:p>
            <a:r>
              <a:rPr lang="en-GB" dirty="0"/>
              <a:t>Primitive use of agricultural technology, with potato central to land reclamation (fringe land)</a:t>
            </a:r>
          </a:p>
          <a:p>
            <a:r>
              <a:rPr lang="en-GB" dirty="0"/>
              <a:t>Ireland seen as a risky investment opportunity due to social unrest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560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Emigration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Mass exodus of Irishmen and Irishwomen predates the Famine by half a century</a:t>
            </a:r>
          </a:p>
          <a:p>
            <a:r>
              <a:rPr lang="en-GB" u="sng" dirty="0"/>
              <a:t>History of Ireland is a history of a residual population</a:t>
            </a:r>
          </a:p>
          <a:p>
            <a:r>
              <a:rPr lang="en-GB" dirty="0"/>
              <a:t>May explain difficulty in following the economic path of countries that received immigrants</a:t>
            </a:r>
          </a:p>
          <a:p>
            <a:r>
              <a:rPr lang="en-GB" dirty="0"/>
              <a:t>Ó </a:t>
            </a:r>
            <a:r>
              <a:rPr lang="en-GB" dirty="0" err="1"/>
              <a:t>Gráda</a:t>
            </a:r>
            <a:r>
              <a:rPr lang="en-GB" dirty="0"/>
              <a:t> &amp; Mokyr use ship manifests to infer that emigrants had lower human capital </a:t>
            </a:r>
          </a:p>
          <a:p>
            <a:r>
              <a:rPr lang="en-GB" dirty="0"/>
              <a:t>Pre-Famine emigration lessened rather than increased impact of the Famine</a:t>
            </a:r>
          </a:p>
          <a:p>
            <a:r>
              <a:rPr lang="en-GB" dirty="0"/>
              <a:t>Migration, both internal and overseas, must be seen within context of rural de-industrialisation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575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25222F-AAE1-E356-B747-87BF9876D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II:</a:t>
            </a:r>
            <a:br>
              <a:rPr lang="en-GB" dirty="0"/>
            </a:br>
            <a:r>
              <a:rPr lang="en-GB" dirty="0"/>
              <a:t>Measuring the human </a:t>
            </a:r>
            <a:br>
              <a:rPr lang="en-GB" dirty="0"/>
            </a:br>
            <a:r>
              <a:rPr lang="en-GB" dirty="0"/>
              <a:t>impact of the Famine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8F78DF-EF61-02E6-5EC5-BC4197777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Mortality, morbidity, geography and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7D628-6D09-DDF3-8853-74B70C6B6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986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Excess mortality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u="sng" dirty="0"/>
              <a:t>Excess mortality tells us deaths which would not otherwise have occurred</a:t>
            </a:r>
          </a:p>
          <a:p>
            <a:r>
              <a:rPr lang="en-IE" dirty="0"/>
              <a:t>Estimated from population change between the 1841 and 1851 censuses, allowing for births, migration and expected deaths without the Famine</a:t>
            </a:r>
            <a:br>
              <a:rPr lang="en-IE" dirty="0"/>
            </a:br>
            <a:r>
              <a:rPr lang="en-IE" dirty="0"/>
              <a:t/>
            </a:r>
          </a:p>
          <a:p>
            <a:r>
              <a:rPr lang="en-IE" dirty="0"/>
              <a:t>Estimation of approx. 1 million excess deaths, with old and young most prone to perish</a:t>
            </a:r>
          </a:p>
          <a:p>
            <a:pPr>
              <a:lnSpc>
                <a:spcPct val="90000"/>
              </a:lnSpc>
            </a:pPr>
            <a:r>
              <a:rPr lang="en-IE" dirty="0"/>
              <a:t>Mortality varied sharply across regions</a:t>
            </a:r>
          </a:p>
          <a:p>
            <a:pPr>
              <a:lnSpc>
                <a:spcPct val="90000"/>
              </a:lnSpc>
            </a:pPr>
            <a:r>
              <a:rPr lang="en-IE" dirty="0"/>
              <a:t>Disease was the main recorded killer; malnutrition increased vulnerability</a:t>
            </a:r>
          </a:p>
          <a:p>
            <a:pPr>
              <a:lnSpc>
                <a:spcPct val="90000"/>
              </a:lnSpc>
            </a:pPr>
            <a:r>
              <a:rPr lang="en-IE" dirty="0"/>
              <a:t>Deaths among clergy and professional classes high</a:t>
            </a:r>
          </a:p>
          <a:p>
            <a:pPr>
              <a:lnSpc>
                <a:spcPct val="90000"/>
              </a:lnSpc>
            </a:pPr>
            <a:r>
              <a:rPr lang="en-IE" dirty="0"/>
              <a:t>Missing births increase tragedy further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363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Numbers and causes of </a:t>
            </a:r>
            <a:br>
              <a:rPr lang="en-GB" sz="4000" dirty="0"/>
            </a:br>
            <a:r>
              <a:rPr lang="en-GB" sz="4000" dirty="0"/>
              <a:t>Famine-related death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381000" y="4191000"/>
            <a:ext cx="11430000" cy="19526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sz="1800" dirty="0"/>
              <a:t>Ó </a:t>
            </a:r>
            <a:r>
              <a:rPr lang="en-GB" sz="1800" dirty="0" err="1"/>
              <a:t>Gráda</a:t>
            </a:r>
            <a:r>
              <a:rPr lang="en-GB" sz="1800" dirty="0"/>
              <a:t> &amp; </a:t>
            </a:r>
            <a:r>
              <a:rPr lang="en-GB" sz="1800" dirty="0" err="1"/>
              <a:t>Mokyr</a:t>
            </a:r>
            <a:r>
              <a:rPr lang="en-GB" sz="1800" dirty="0"/>
              <a:t> calculate approx. 30% due to epidemic diseases (smallpox, diarrhoea etc.)</a:t>
            </a:r>
          </a:p>
          <a:p>
            <a:pPr>
              <a:spcAft>
                <a:spcPts val="600"/>
              </a:spcAft>
            </a:pPr>
            <a:r>
              <a:rPr lang="en-GB" sz="1800" dirty="0"/>
              <a:t>Only about 2% due to physical starvation, but between 30% and 60% are hunger-sensitive causes</a:t>
            </a:r>
          </a:p>
          <a:p>
            <a:pPr>
              <a:spcAft>
                <a:spcPts val="600"/>
              </a:spcAft>
            </a:pPr>
            <a:r>
              <a:rPr lang="en-GB" sz="1800" dirty="0"/>
              <a:t>About 10% are old age-related (i.e. died earlier)</a:t>
            </a:r>
          </a:p>
          <a:p>
            <a:pPr>
              <a:spcAft>
                <a:spcPts val="600"/>
              </a:spcAft>
            </a:pPr>
            <a:r>
              <a:rPr lang="en-GB" sz="1800" dirty="0"/>
              <a:t>Large regional variation in causes of excess death</a:t>
            </a:r>
          </a:p>
          <a:p>
            <a:pPr>
              <a:spcAft>
                <a:spcPts val="600"/>
              </a:spcAft>
            </a:pPr>
            <a:endParaRPr lang="en-GB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100" name=""/>
          <p:cNvGraphicFramePr/>
          <p:nvPr/>
        </p:nvGraphicFramePr>
        <p:xfrm>
          <a:off x="381000" y="1952625"/>
          <a:ext cx="11430000" cy="2057400"/>
        </p:xfrm>
        <a:graphic>
          <a:graphicData uri="http://schemas.openxmlformats.org/drawingml/2006/table">
            <a:tbl>
              <a:tblPr/>
              <a:tblGrid>
                <a:gridCol w="1371600"/>
                <a:gridCol w="1257300"/>
                <a:gridCol w="1257300"/>
                <a:gridCol w="1257300"/>
                <a:gridCol w="1257300"/>
                <a:gridCol w="1257300"/>
                <a:gridCol w="1257300"/>
                <a:gridCol w="1257300"/>
                <a:gridCol w="1257300"/>
              </a:tblGrid>
              <a:tr h="257175">
                <a:tc rowSpan="3"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Age group</a:t>
                      </a:r>
                    </a:p>
                  </a:txBody>
                  <a:tcPr marL="91440" marR="91440" marT="0" marB="0">
                    <a:solidFill>
                      <a:srgbClr val="981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Males</a:t>
                      </a:r>
                    </a:p>
                  </a:txBody>
                  <a:tcPr marL="91440" marR="91440" marT="0" marB="0">
                    <a:solidFill>
                      <a:srgbClr val="981F32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/>
                      </a:r>
                    </a:p>
                  </a:txBody>
                  <a:tcPr marL="91440" marR="91440" marT="0" marB="0">
                    <a:solidFill>
                      <a:srgbClr val="981F32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/>
                      </a:r>
                    </a:p>
                  </a:txBody>
                  <a:tcPr marL="91440" marR="91440" marT="0" marB="0">
                    <a:solidFill>
                      <a:srgbClr val="981F32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/>
                      </a:r>
                    </a:p>
                  </a:txBody>
                  <a:tcPr marL="91440" marR="91440" marT="0" marB="0">
                    <a:solidFill>
                      <a:srgbClr val="981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Females</a:t>
                      </a:r>
                    </a:p>
                  </a:txBody>
                  <a:tcPr marL="91440" marR="91440" marT="0" marB="0">
                    <a:solidFill>
                      <a:srgbClr val="981F32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/>
                      </a:r>
                    </a:p>
                  </a:txBody>
                  <a:tcPr marL="91440" marR="91440" marT="0" marB="0">
                    <a:solidFill>
                      <a:srgbClr val="981F32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/>
                      </a:r>
                    </a:p>
                  </a:txBody>
                  <a:tcPr marL="91440" marR="91440" marT="0" marB="0">
                    <a:solidFill>
                      <a:srgbClr val="981F32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/>
                      </a:r>
                    </a:p>
                  </a:txBody>
                  <a:tcPr marL="91440" marR="91440" marT="0" marB="0">
                    <a:solidFill>
                      <a:srgbClr val="981F32"/>
                    </a:solidFill>
                  </a:tcPr>
                </a:tc>
              </a:tr>
              <a:tr h="257175">
                <a:tc vMerge="1"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/>
                      </a:r>
                    </a:p>
                  </a:txBody>
                  <a:tcPr marL="91440" marR="91440" marT="0" marB="0">
                    <a:solidFill>
                      <a:srgbClr val="F1E8E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Excess deaths</a:t>
                      </a:r>
                    </a:p>
                  </a:txBody>
                  <a:tcPr marL="91440" marR="91440" marT="0" marB="0">
                    <a:solidFill>
                      <a:srgbClr val="F1E8E9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/>
                      </a:r>
                    </a:p>
                  </a:txBody>
                  <a:tcPr marL="91440" marR="91440" marT="0" marB="0">
                    <a:solidFill>
                      <a:srgbClr val="F1E8E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Average population</a:t>
                      </a:r>
                    </a:p>
                  </a:txBody>
                  <a:tcPr marL="91440" marR="91440" marT="0" marB="0">
                    <a:solidFill>
                      <a:srgbClr val="F1E8E9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/>
                      </a:r>
                    </a:p>
                  </a:txBody>
                  <a:tcPr marL="91440" marR="91440" marT="0" marB="0">
                    <a:solidFill>
                      <a:srgbClr val="F1E8E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Excess deaths</a:t>
                      </a:r>
                    </a:p>
                  </a:txBody>
                  <a:tcPr marL="91440" marR="91440" marT="0" marB="0">
                    <a:solidFill>
                      <a:srgbClr val="F1E8E9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/>
                      </a:r>
                    </a:p>
                  </a:txBody>
                  <a:tcPr marL="91440" marR="91440" marT="0" marB="0">
                    <a:solidFill>
                      <a:srgbClr val="F1E8E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Average population</a:t>
                      </a:r>
                    </a:p>
                  </a:txBody>
                  <a:tcPr marL="91440" marR="91440" marT="0" marB="0">
                    <a:solidFill>
                      <a:srgbClr val="F1E8E9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/>
                      </a:r>
                    </a:p>
                  </a:txBody>
                  <a:tcPr marL="91440" marR="91440" marT="0" marB="0">
                    <a:solidFill>
                      <a:srgbClr val="F1E8E9"/>
                    </a:solidFill>
                  </a:tcPr>
                </a:tc>
              </a:tr>
              <a:tr h="257175">
                <a:tc vMerge="1"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/>
                      </a:r>
                    </a:p>
                  </a:txBody>
                  <a:tcPr marL="91440" marR="91440" marT="0" marB="0">
                    <a:solidFill>
                      <a:srgbClr val="F1E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000s</a:t>
                      </a:r>
                    </a:p>
                  </a:txBody>
                  <a:tcPr marL="91440" marR="91440" marT="0" marB="0">
                    <a:solidFill>
                      <a:srgbClr val="F1E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%</a:t>
                      </a:r>
                    </a:p>
                  </a:txBody>
                  <a:tcPr marL="91440" marR="91440" marT="0" marB="0">
                    <a:solidFill>
                      <a:srgbClr val="F1E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000s</a:t>
                      </a:r>
                    </a:p>
                  </a:txBody>
                  <a:tcPr marL="91440" marR="91440" marT="0" marB="0">
                    <a:solidFill>
                      <a:srgbClr val="F1E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%</a:t>
                      </a:r>
                    </a:p>
                  </a:txBody>
                  <a:tcPr marL="91440" marR="91440" marT="0" marB="0">
                    <a:solidFill>
                      <a:srgbClr val="F1E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000s</a:t>
                      </a:r>
                    </a:p>
                  </a:txBody>
                  <a:tcPr marL="91440" marR="91440" marT="0" marB="0">
                    <a:solidFill>
                      <a:srgbClr val="F1E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%</a:t>
                      </a:r>
                    </a:p>
                  </a:txBody>
                  <a:tcPr marL="91440" marR="91440" marT="0" marB="0">
                    <a:solidFill>
                      <a:srgbClr val="F1E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000s</a:t>
                      </a:r>
                    </a:p>
                  </a:txBody>
                  <a:tcPr marL="91440" marR="91440" marT="0" marB="0">
                    <a:solidFill>
                      <a:srgbClr val="F1E8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%</a:t>
                      </a:r>
                    </a:p>
                  </a:txBody>
                  <a:tcPr marL="91440" marR="91440" marT="0" marB="0">
                    <a:solidFill>
                      <a:srgbClr val="F1E8E9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0–4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146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28.40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508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13.67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139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29.32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491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12.79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5–9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95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18.48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471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12.67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92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19.41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455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11.85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10–59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207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40.27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2526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67.98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191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40.30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2659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69.26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60+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66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12.84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211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5.68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52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10.97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234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6.10</a:t>
                      </a:r>
                    </a:p>
                  </a:txBody>
                  <a:tcPr marL="91440" marR="91440" marT="0" marB="0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Total</a:t>
                      </a:r>
                    </a:p>
                  </a:txBody>
                  <a:tcPr marL="91440" marR="91440" marT="0" marB="0">
                    <a:solidFill>
                      <a:srgbClr val="ED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514</a:t>
                      </a:r>
                    </a:p>
                  </a:txBody>
                  <a:tcPr marL="91440" marR="91440" marT="0" marB="0">
                    <a:solidFill>
                      <a:srgbClr val="ED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100</a:t>
                      </a:r>
                    </a:p>
                  </a:txBody>
                  <a:tcPr marL="91440" marR="91440" marT="0" marB="0">
                    <a:solidFill>
                      <a:srgbClr val="ED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3716</a:t>
                      </a:r>
                    </a:p>
                  </a:txBody>
                  <a:tcPr marL="91440" marR="91440" marT="0" marB="0">
                    <a:solidFill>
                      <a:srgbClr val="ED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100</a:t>
                      </a:r>
                    </a:p>
                  </a:txBody>
                  <a:tcPr marL="91440" marR="91440" marT="0" marB="0">
                    <a:solidFill>
                      <a:srgbClr val="ED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474</a:t>
                      </a:r>
                    </a:p>
                  </a:txBody>
                  <a:tcPr marL="91440" marR="91440" marT="0" marB="0">
                    <a:solidFill>
                      <a:srgbClr val="ED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100</a:t>
                      </a:r>
                    </a:p>
                  </a:txBody>
                  <a:tcPr marL="91440" marR="91440" marT="0" marB="0">
                    <a:solidFill>
                      <a:srgbClr val="ED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3839</a:t>
                      </a:r>
                    </a:p>
                  </a:txBody>
                  <a:tcPr marL="91440" marR="91440" marT="0" marB="0">
                    <a:solidFill>
                      <a:srgbClr val="ED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100</a:t>
                      </a:r>
                    </a:p>
                  </a:txBody>
                  <a:tcPr marL="91440" marR="91440" marT="0" marB="0">
                    <a:solidFill>
                      <a:srgbClr val="EDEEEB"/>
                    </a:solidFill>
                  </a:tcPr>
                </a:tc>
              </a:tr>
            </a:tbl>
          </a:graphicData>
        </a:graphic>
      </p:graphicFrame>
      <p:sp>
        <p:nvSpPr>
          <p:cNvPr id="101" name="Content Placeholder 10"/>
          <p:cNvSpPr>
            <a:spLocks noGrp="1"/>
          </p:cNvSpPr>
          <p:nvPr/>
        </p:nvSpPr>
        <p:spPr>
          <a:xfrm>
            <a:off x="381000" y="1666875"/>
            <a:ext cx="11430000" cy="266700"/>
          </a:xfrm>
        </p:spPr>
        <p:txBody>
          <a:bodyPr>
            <a:normAutofit/>
          </a:bodyPr>
          <a:lstStyle/>
          <a:p>
            <a:pPr>
              <a:spcAft>
                <a:spcPts val="1300"/>
              </a:spcAft>
              <a:buNone/>
            </a:pPr>
            <a:r>
              <a:rPr lang="en-GB" sz="1600">
                <a:latin typeface="Century Gothic"/>
              </a:rPr>
              <a:t>Estimated excess deaths during the Famine, by age and sex</a:t>
            </a:r>
          </a:p>
        </p:txBody>
      </p:sp>
    </p:spTree>
    <p:extLst>
      <p:ext uri="{BB962C8B-B14F-4D97-AF65-F5344CB8AC3E}">
        <p14:creationId xmlns:p14="http://schemas.microsoft.com/office/powerpoint/2010/main" val="440828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Geographic impact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4953000" y="1676401"/>
            <a:ext cx="6934200" cy="4449763"/>
          </a:xfrm>
        </p:spPr>
        <p:txBody>
          <a:bodyPr>
            <a:normAutofit/>
          </a:bodyPr>
          <a:lstStyle/>
          <a:p>
            <a:r>
              <a:rPr lang="en-GB" sz="2400" dirty="0"/>
              <a:t>County Mayo has highest death rates, at 60 per 1,000 people</a:t>
            </a:r>
          </a:p>
          <a:p>
            <a:r>
              <a:rPr lang="en-GB" sz="2400" dirty="0"/>
              <a:t>Connacht and Clare, as well as Cork and Cavan, a close second</a:t>
            </a:r>
          </a:p>
          <a:p>
            <a:r>
              <a:rPr lang="en-GB" sz="2400" dirty="0"/>
              <a:t>Ulster is in the middle of the death league</a:t>
            </a:r>
          </a:p>
          <a:p>
            <a:r>
              <a:rPr lang="en-GB" sz="2400" dirty="0"/>
              <a:t>And Dublin and south-east are at bottom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76400"/>
            <a:ext cx="3505200" cy="4368093"/>
          </a:xfrm>
        </p:spPr>
      </p:pic>
    </p:spTree>
    <p:extLst>
      <p:ext uri="{BB962C8B-B14F-4D97-AF65-F5344CB8AC3E}">
        <p14:creationId xmlns:p14="http://schemas.microsoft.com/office/powerpoint/2010/main" val="4204423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3B47AC2-DB53-6081-B257-9BF70549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Population and poverty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FCD51A9-1C2F-0CCA-2357-30461EBC0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Fernihough &amp; Ó Gráda (</a:t>
            </a:r>
            <a:r>
              <a:rPr lang="en-GB" i="1" dirty="0"/>
              <a:t>Demography, </a:t>
            </a:r>
            <a:r>
              <a:rPr lang="en-GB" dirty="0"/>
              <a:t>2022) collect highly disaggregated</a:t>
            </a:r>
            <a:r>
              <a:rPr lang="en-GB" dirty="0" err="1"/>
              <a:t/>
            </a:r>
            <a:r>
              <a:rPr lang="en-GB" dirty="0"/>
              <a:t> data from 1841 census</a:t>
            </a:r>
          </a:p>
          <a:p>
            <a:pPr lvl="1"/>
            <a:r>
              <a:rPr lang="en-GB" dirty="0"/>
              <a:t>Parish-level rather than county-level data increases number of observations and reveals spatial heterogeneity</a:t>
            </a:r>
          </a:p>
          <a:p>
            <a:r>
              <a:rPr lang="en-GB" dirty="0"/>
              <a:t>They find pre-Famine population pressure positively associated with illiteracy and poor-quality housing</a:t>
            </a:r>
          </a:p>
          <a:p>
            <a:r>
              <a:rPr lang="en-GB" dirty="0"/>
              <a:t>They recast Mokyr’s rejection of Malthusianism</a:t>
            </a:r>
          </a:p>
          <a:p>
            <a:pPr lvl="1"/>
            <a:r>
              <a:rPr lang="en-GB" dirty="0"/>
              <a:t>More complicated picture where pre-Famine population growth was higher in areas with less population pressure</a:t>
            </a:r>
          </a:p>
          <a:p>
            <a:pPr lvl="1"/>
            <a:r>
              <a:rPr lang="en-GB" dirty="0"/>
              <a:t>Strong preventive check, inconsistent with Famine acting as a positive check</a:t>
            </a:r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2DFC9-B063-8798-69A8-209B531F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728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Pre-Famine housing </a:t>
            </a:r>
            <a:br>
              <a:rPr lang="en-GB" sz="4000" dirty="0"/>
            </a:br>
            <a:r>
              <a:rPr lang="en-GB" sz="4000" dirty="0"/>
              <a:t>and employment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400" u="sng" dirty="0"/>
              <a:t>4th-class housing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sz="2400" u="sng" dirty="0"/>
              <a:t>Agricultural employment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212975"/>
            <a:ext cx="3119750" cy="3913188"/>
          </a:xfrm>
        </p:spPr>
      </p:pic>
      <p:pic>
        <p:nvPicPr>
          <p:cNvPr id="17" name="Content Placeholder 16"/>
          <p:cNvPicPr>
            <a:picLocks noGrp="1" noChangeAspect="1"/>
          </p:cNvPicPr>
          <p:nvPr>
            <p:ph sz="quarter" idx="1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476" y="2212975"/>
            <a:ext cx="3194524" cy="3913188"/>
          </a:xfrm>
        </p:spPr>
      </p:pic>
    </p:spTree>
    <p:extLst>
      <p:ext uri="{BB962C8B-B14F-4D97-AF65-F5344CB8AC3E}">
        <p14:creationId xmlns:p14="http://schemas.microsoft.com/office/powerpoint/2010/main" val="743987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Hierarchy of suffering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Landless, or nearly landless, were most likely to perish</a:t>
            </a:r>
          </a:p>
          <a:p>
            <a:r>
              <a:rPr lang="en-IE" dirty="0"/>
              <a:t>Majority living at subsistence levels before Famine</a:t>
            </a:r>
          </a:p>
          <a:p>
            <a:r>
              <a:rPr lang="en-IE" dirty="0"/>
              <a:t>No assets to purchase emergency food</a:t>
            </a:r>
          </a:p>
          <a:p>
            <a:pPr>
              <a:lnSpc>
                <a:spcPct val="90000"/>
              </a:lnSpc>
            </a:pPr>
            <a:r>
              <a:rPr lang="en-IE" dirty="0"/>
              <a:t>Estates court records show mass sale of heavily-mortgaged land; 1 in 12 insolvent before 1845</a:t>
            </a:r>
          </a:p>
          <a:p>
            <a:pPr>
              <a:lnSpc>
                <a:spcPct val="90000"/>
              </a:lnSpc>
            </a:pPr>
            <a:r>
              <a:rPr lang="en-IE" dirty="0"/>
              <a:t>Significant landlord bankruptcies after Famine</a:t>
            </a:r>
          </a:p>
          <a:p>
            <a:pPr>
              <a:lnSpc>
                <a:spcPct val="90000"/>
              </a:lnSpc>
            </a:pPr>
            <a:r>
              <a:rPr lang="en-IE" u="sng" dirty="0"/>
              <a:t>Was it due to precarious state of finances before the Famine, or the effect of the Famine itself?</a:t>
            </a:r>
          </a:p>
          <a:p>
            <a:pPr>
              <a:lnSpc>
                <a:spcPct val="90000"/>
              </a:lnSpc>
            </a:pPr>
            <a:r>
              <a:rPr lang="en-IE" dirty="0"/>
              <a:t>Probably an element of bad luck, but more likely poor management and overspending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7262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Potato prices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725" y="1524001"/>
            <a:ext cx="6686550" cy="4407893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124200" y="5996375"/>
            <a:ext cx="4633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Source: Kennedy &amp; Solar (2009)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4200" y="6318917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(average 1801-1913 = 100)</a:t>
            </a:r>
          </a:p>
        </p:txBody>
      </p:sp>
    </p:spTree>
    <p:extLst>
      <p:ext uri="{BB962C8B-B14F-4D97-AF65-F5344CB8AC3E}">
        <p14:creationId xmlns:p14="http://schemas.microsoft.com/office/powerpoint/2010/main" val="18195251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Change in potato prices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32</a:t>
            </a:fld>
            <a:endParaRPr lang="en-US" dirty="0"/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9400569"/>
              </p:ext>
            </p:extLst>
          </p:nvPr>
        </p:nvGraphicFramePr>
        <p:xfrm>
          <a:off x="1981200" y="1447800"/>
          <a:ext cx="8229600" cy="449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895600" y="6152401"/>
            <a:ext cx="4633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Source: Kennedy &amp; Solar (2009)</a:t>
            </a:r>
          </a:p>
        </p:txBody>
      </p:sp>
    </p:spTree>
    <p:extLst>
      <p:ext uri="{BB962C8B-B14F-4D97-AF65-F5344CB8AC3E}">
        <p14:creationId xmlns:p14="http://schemas.microsoft.com/office/powerpoint/2010/main" val="2119790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29AE20-E10B-7AD5-C6D5-2A2C5AFF0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III:</a:t>
            </a:r>
            <a:br>
              <a:rPr lang="en-GB" dirty="0"/>
            </a:br>
            <a:r>
              <a:rPr lang="en-GB" dirty="0"/>
              <a:t>Famine and </a:t>
            </a:r>
            <a:br>
              <a:rPr lang="en-GB" dirty="0"/>
            </a:br>
            <a:r>
              <a:rPr lang="en-GB" dirty="0"/>
              <a:t>government policy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1287180-E641-C86E-04A3-9B559336A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Policy mistakes and unintended consequences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6CE32-2030-A097-8F21-5B998ED30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48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Pre-Famine poor relief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Adapted from the English Poor Law system</a:t>
            </a:r>
          </a:p>
          <a:p>
            <a:r>
              <a:rPr lang="en-GB" dirty="0"/>
              <a:t>Particularly concerned with illegitimacy (bastardy)</a:t>
            </a:r>
          </a:p>
          <a:p>
            <a:r>
              <a:rPr lang="en-GB" dirty="0"/>
              <a:t>Introduced because idea that old system was affecting “natural laws of supply and demand”</a:t>
            </a:r>
          </a:p>
          <a:p>
            <a:r>
              <a:rPr lang="en-GB" dirty="0"/>
              <a:t>Less eligibility: workhouse pauper should have lower conditions than poorest free-labourer outside</a:t>
            </a:r>
          </a:p>
          <a:p>
            <a:r>
              <a:rPr lang="en-GB" dirty="0"/>
              <a:t>Workhouse test: only method of poor relief became through the workhouse</a:t>
            </a:r>
          </a:p>
          <a:p>
            <a:r>
              <a:rPr lang="en-GB" dirty="0"/>
              <a:t>Ireland’s 1838 Poor Law adapted England’s 1834 New Poor Law, with differences in entitlement and provision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57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The Irish Poor Law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4116388" cy="609600"/>
          </a:xfrm>
        </p:spPr>
        <p:txBody>
          <a:bodyPr/>
          <a:lstStyle/>
          <a:p>
            <a:pPr algn="l"/>
            <a:r>
              <a:rPr lang="en-GB" sz="2400" u="sng" dirty="0"/>
              <a:t>Total expenditure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3"/>
          </p:nvPr>
        </p:nvSpPr>
        <p:spPr>
          <a:xfrm>
            <a:off x="6400800" y="1371600"/>
            <a:ext cx="4041775" cy="609600"/>
          </a:xfrm>
        </p:spPr>
        <p:txBody>
          <a:bodyPr/>
          <a:lstStyle/>
          <a:p>
            <a:pPr algn="l"/>
            <a:r>
              <a:rPr lang="en-GB" sz="2400" u="sng" dirty="0"/>
              <a:t>Expenditure per person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60" y="2127449"/>
            <a:ext cx="5516437" cy="2674635"/>
          </a:xfrm>
        </p:spPr>
      </p:pic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304800" y="4876800"/>
            <a:ext cx="11430000" cy="137160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Poor Relief (Ireland) Act 1847 stated that ‘no Person who shall be in the Occupation of any Land of greater Extent than the Quarter of a Statute Acre shall be deemed and taken to be a destitute poor Person’</a:t>
            </a:r>
            <a:endParaRPr lang="en-GB" sz="2000" dirty="0"/>
          </a:p>
        </p:txBody>
      </p:sp>
      <p:pic>
        <p:nvPicPr>
          <p:cNvPr id="13" name="Content Placeholder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2273690"/>
            <a:ext cx="4978404" cy="2528394"/>
          </a:xfrm>
          <a:prstGeom prst="rect">
            <a:avLst/>
          </a:prstGeom>
        </p:spPr>
      </p:pic>
      <p:sp>
        <p:nvSpPr>
          <p:cNvPr id="14" name="Clarifying label"/>
          <p:cNvSpPr txBox="1"/>
          <p:nvPr/>
        </p:nvSpPr>
        <p:spPr>
          <a:xfrm>
            <a:off x="6654800" y="2978150"/>
            <a:ext cx="298450" cy="19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rIns="0" tIns="0" bIns="0" anchor="ctr" wrap="none"/>
          <a:lstStyle/>
          <a:p>
            <a:pPr algn="ctr">
              <a:buNone/>
            </a:pPr>
            <a:r>
              <a:rPr lang="en-GB" sz="1400">
                <a:solidFill>
                  <a:srgbClr val="000000"/>
                </a:solidFill>
                <a:latin typeface="Arial"/>
              </a:rPr>
              <a:t>2.5</a:t>
            </a:r>
          </a:p>
        </p:txBody>
      </p:sp>
    </p:spTree>
    <p:extLst>
      <p:ext uri="{BB962C8B-B14F-4D97-AF65-F5344CB8AC3E}">
        <p14:creationId xmlns:p14="http://schemas.microsoft.com/office/powerpoint/2010/main" val="27544792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Repeal of the Corn Laws </a:t>
            </a:r>
            <a:br>
              <a:rPr lang="en-GB" dirty="0"/>
            </a:br>
            <a:r>
              <a:rPr lang="en-GB" dirty="0"/>
              <a:t>and impact on 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Corn Laws were trade restrictions designed to protect cereal </a:t>
            </a:r>
            <a:br>
              <a:rPr lang="en-IE" dirty="0"/>
            </a:br>
            <a:r>
              <a:rPr lang="en-IE" dirty="0"/>
              <a:t>producers in the UK against imports</a:t>
            </a:r>
          </a:p>
          <a:p>
            <a:r>
              <a:rPr lang="en-IE" dirty="0"/>
              <a:t>There was long-standing opposition to </a:t>
            </a:r>
            <a:br>
              <a:rPr lang="en-IE" dirty="0"/>
            </a:br>
            <a:r>
              <a:rPr lang="en-IE" dirty="0"/>
              <a:t>these laws</a:t>
            </a:r>
          </a:p>
          <a:p>
            <a:r>
              <a:rPr lang="en-IE" dirty="0"/>
              <a:t>They were repealed in 1846, during the </a:t>
            </a:r>
            <a:br>
              <a:rPr lang="en-IE" dirty="0"/>
            </a:br>
            <a:r>
              <a:rPr lang="en-IE" dirty="0"/>
              <a:t>Famine (which led to collapse of Peel </a:t>
            </a:r>
            <a:br>
              <a:rPr lang="en-IE" dirty="0"/>
            </a:br>
            <a:r>
              <a:rPr lang="en-IE" dirty="0"/>
              <a:t>government)</a:t>
            </a:r>
          </a:p>
          <a:p>
            <a:r>
              <a:rPr lang="en-IE" u="sng" dirty="0"/>
              <a:t>But repeal probably </a:t>
            </a:r>
            <a:br>
              <a:rPr lang="en-IE" u="sng" dirty="0"/>
            </a:br>
            <a:r>
              <a:rPr lang="en-IE" u="sng" dirty="0"/>
              <a:t>came too late to have </a:t>
            </a:r>
            <a:br>
              <a:rPr lang="en-IE" u="sng" dirty="0"/>
            </a:br>
            <a:r>
              <a:rPr lang="en-IE" u="sng" dirty="0"/>
              <a:t>a big impact on Ireland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1026" name="Picture 2" descr="http://www.educationforum.co.uk/history/cor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44615">
            <a:off x="6935917" y="2549984"/>
            <a:ext cx="4888784" cy="35688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2542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185" y="2971800"/>
            <a:ext cx="6586491" cy="33225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Macroeconomic context </a:t>
            </a:r>
            <a:br>
              <a:rPr lang="en-GB" dirty="0"/>
            </a:br>
            <a:r>
              <a:rPr lang="en-GB" dirty="0"/>
              <a:t>of famine relief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/>
            <a:r>
              <a:rPr lang="en-GB" dirty="0"/>
              <a:t>Nationalist narrative blames the British government for not doing enough</a:t>
            </a:r>
          </a:p>
          <a:p>
            <a:pPr marL="285750" indent="-285750"/>
            <a:r>
              <a:rPr lang="en-GB" dirty="0"/>
              <a:t>Charles Read (</a:t>
            </a:r>
            <a:r>
              <a:rPr lang="en-GB" i="1" dirty="0"/>
              <a:t>EHR</a:t>
            </a:r>
            <a:r>
              <a:rPr lang="en-GB" dirty="0"/>
              <a:t>, 2016) argues there were macroeconomic constraints</a:t>
            </a:r>
          </a:p>
          <a:p>
            <a:pPr marL="685800" lvl="1"/>
            <a:r>
              <a:rPr lang="en-GB" dirty="0"/>
              <a:t>The 1847 financial crisis limited London’s options </a:t>
            </a:r>
          </a:p>
          <a:p>
            <a:pPr marL="285750"/>
            <a:r>
              <a:rPr lang="en-GB" dirty="0"/>
              <a:t>The monetary policy trilemma applies here:</a:t>
            </a:r>
          </a:p>
          <a:p>
            <a:pPr marL="685800" lvl="1"/>
            <a:r>
              <a:rPr lang="en-GB" dirty="0"/>
              <a:t>Only two of the three economic policy</a:t>
            </a:r>
            <a:br>
              <a:rPr lang="en-GB" dirty="0"/>
            </a:br>
            <a:r>
              <a:rPr lang="en-GB" dirty="0"/>
              <a:t>objectives can be achieved</a:t>
            </a:r>
            <a:br>
              <a:rPr lang="en-GB" dirty="0"/>
            </a:br>
            <a:r>
              <a:rPr lang="en-GB" dirty="0"/>
              <a:t>at the same time</a:t>
            </a:r>
          </a:p>
          <a:p>
            <a:pPr marL="685800" lvl="1"/>
            <a:r>
              <a:rPr lang="en-GB" dirty="0"/>
              <a:t>This meant reduced financial </a:t>
            </a:r>
            <a:br>
              <a:rPr lang="en-GB" dirty="0"/>
            </a:br>
            <a:r>
              <a:rPr lang="en-GB" dirty="0"/>
              <a:t>assistance available for </a:t>
            </a:r>
            <a:br>
              <a:rPr lang="en-GB" dirty="0"/>
            </a:br>
            <a:r>
              <a:rPr lang="en-GB" dirty="0"/>
              <a:t>relief of Irish famine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8338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Microfinance </a:t>
            </a:r>
            <a:br>
              <a:rPr lang="en-GB" sz="4000" dirty="0"/>
            </a:br>
            <a:r>
              <a:rPr lang="en-GB" sz="4000" dirty="0"/>
              <a:t>and poverty relief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343400" y="1752600"/>
            <a:ext cx="74676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altLang="en-US" sz="2400" dirty="0"/>
              <a:t>Loan Fund Societies and savings banks promoted as a way of lessening future poor rates </a:t>
            </a:r>
          </a:p>
          <a:p>
            <a:r>
              <a:rPr lang="en-IE" altLang="en-US" sz="2400" dirty="0"/>
              <a:t>Increase income of the poor and encourage them to save for the future</a:t>
            </a:r>
          </a:p>
          <a:p>
            <a:r>
              <a:rPr lang="en-IE" altLang="en-US" sz="2400" dirty="0"/>
              <a:t>Largest number of loan funds registered in period 1838 to 1843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00200"/>
            <a:ext cx="3656285" cy="4298851"/>
          </a:xfrm>
        </p:spPr>
      </p:pic>
      <p:sp>
        <p:nvSpPr>
          <p:cNvPr id="8" name="TextBox 7"/>
          <p:cNvSpPr txBox="1"/>
          <p:nvPr/>
        </p:nvSpPr>
        <p:spPr>
          <a:xfrm>
            <a:off x="6948740" y="6128921"/>
            <a:ext cx="4633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/>
              <a:t>Source: McLaughlin (</a:t>
            </a:r>
            <a:r>
              <a:rPr lang="en-GB" sz="1600" i="1" dirty="0"/>
              <a:t>IESH</a:t>
            </a:r>
            <a:r>
              <a:rPr lang="en-GB" sz="1600" dirty="0"/>
              <a:t>, 2013)</a:t>
            </a:r>
          </a:p>
        </p:txBody>
      </p:sp>
    </p:spTree>
    <p:extLst>
      <p:ext uri="{BB962C8B-B14F-4D97-AF65-F5344CB8AC3E}">
        <p14:creationId xmlns:p14="http://schemas.microsoft.com/office/powerpoint/2010/main" val="35604716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GB"/>
              <a:t>Food exports and pig breeding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24000"/>
            <a:ext cx="6572250" cy="4333875"/>
          </a:xfrm>
        </p:spPr>
        <p:txBody>
          <a:bodyPr>
            <a:normAutofit/>
          </a:bodyPr>
          <a:lstStyle/>
          <a:p>
            <a:pPr>
              <a:spcAft>
                <a:spcPts val="1100"/>
              </a:spcAft>
            </a:pPr>
            <a:r>
              <a:rPr lang="en-IE" dirty="0" sz="2100"/>
              <a:t>Popular histories of the Famine stress food was being exported even during the years of hunger</a:t>
            </a:r>
          </a:p>
          <a:p>
            <a:pPr>
              <a:spcAft>
                <a:spcPts val="1100"/>
              </a:spcAft>
            </a:pPr>
            <a:r>
              <a:rPr lang="en-IE" dirty="0" sz="2100"/>
              <a:t>Retaining exports alone could not replace the lost potato crop</a:t>
            </a:r>
          </a:p>
          <a:p>
            <a:pPr>
              <a:spcAft>
                <a:spcPts val="1100"/>
              </a:spcAft>
            </a:pPr>
            <a:r>
              <a:rPr lang="en-IE" dirty="0" sz="2100"/>
              <a:t>Food imports increased, but access to food also depended on income and relief</a:t>
            </a:r>
          </a:p>
          <a:p>
            <a:pPr>
              <a:spcAft>
                <a:spcPts val="1100"/>
              </a:spcAft>
            </a:pPr>
            <a:r>
              <a:rPr lang="en-IE" u="sng" dirty="0" sz="2100"/>
              <a:t>Role of information asymmetry in poverty relief</a:t>
            </a:r>
          </a:p>
          <a:p>
            <a:pPr>
              <a:spcAft>
                <a:spcPts val="1100"/>
              </a:spcAft>
            </a:pPr>
            <a:r>
              <a:rPr lang="en-IE" dirty="0" sz="2100"/>
              <a:t>Pig breeding acted as supplementary income, but became impossible without potatoes</a:t>
            </a:r>
          </a:p>
          <a:p>
            <a:pPr>
              <a:spcAft>
                <a:spcPts val="1100"/>
              </a:spcAft>
            </a:pPr>
            <a:r>
              <a:rPr lang="en-IE" dirty="0" sz="2100"/>
              <a:t>Labourers sold pigs and sheep in response to crisis</a:t>
            </a:r>
          </a:p>
          <a:p>
            <a:pPr marL="0" indent="0">
              <a:buNone/>
              <a:spcAft>
                <a:spcPts val="1100"/>
              </a:spcAft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100" name="Blight"/>
          <p:cNvSpPr/>
          <p:nvPr/>
        </p:nvSpPr>
        <p:spPr>
          <a:xfrm>
            <a:off x="7953375" y="1524000"/>
            <a:ext cx="2762250" cy="523875"/>
          </a:xfrm>
          <a:prstGeom prst="rect">
            <a:avLst/>
          </a:prstGeom>
          <a:solidFill>
            <a:srgbClr val="ECD8D8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sz="2100">
                <a:solidFill>
                  <a:srgbClr val="262626"/>
                </a:solidFill>
                <a:latin typeface="Century Gothic"/>
              </a:rPr>
              <a:t>Blight</a:t>
            </a:r>
          </a:p>
        </p:txBody>
      </p:sp>
      <p:sp>
        <p:nvSpPr>
          <p:cNvPr id="101" name=""/>
          <p:cNvSpPr/>
          <p:nvPr/>
        </p:nvSpPr>
        <p:spPr>
          <a:xfrm>
            <a:off x="9220200" y="2085975"/>
            <a:ext cx="228600" cy="361950"/>
          </a:xfrm>
          <a:prstGeom prst="downArrow">
            <a:avLst/>
          </a:prstGeom>
          <a:solidFill>
            <a:srgbClr val="A33E42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sz="1900">
                <a:solidFill>
                  <a:srgbClr val="262626"/>
                </a:solidFill>
                <a:latin typeface="Century Gothic"/>
              </a:rPr>
              <a:t/>
            </a:r>
          </a:p>
        </p:txBody>
      </p:sp>
      <p:sp>
        <p:nvSpPr>
          <p:cNvPr id="102" name="Potato crop fails"/>
          <p:cNvSpPr/>
          <p:nvPr/>
        </p:nvSpPr>
        <p:spPr>
          <a:xfrm>
            <a:off x="7953375" y="2514600"/>
            <a:ext cx="2762250" cy="571500"/>
          </a:xfrm>
          <a:prstGeom prst="rect">
            <a:avLst/>
          </a:prstGeom>
          <a:solidFill>
            <a:srgbClr val="ECD8D8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sz="2100">
                <a:solidFill>
                  <a:srgbClr val="262626"/>
                </a:solidFill>
                <a:latin typeface="Century Gothic"/>
              </a:rPr>
              <a:t>Potato crop fails</a:t>
            </a:r>
          </a:p>
        </p:txBody>
      </p:sp>
      <p:sp>
        <p:nvSpPr>
          <p:cNvPr id="103" name=""/>
          <p:cNvSpPr/>
          <p:nvPr/>
        </p:nvSpPr>
        <p:spPr>
          <a:xfrm>
            <a:off x="8191500" y="3143250"/>
            <a:ext cx="228600" cy="457200"/>
          </a:xfrm>
          <a:prstGeom prst="downArrow">
            <a:avLst/>
          </a:prstGeom>
          <a:solidFill>
            <a:srgbClr val="777777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sz="1900">
                <a:solidFill>
                  <a:srgbClr val="262626"/>
                </a:solidFill>
                <a:latin typeface="Century Gothic"/>
              </a:rPr>
              <a:t/>
            </a:r>
          </a:p>
        </p:txBody>
      </p:sp>
      <p:sp>
        <p:nvSpPr>
          <p:cNvPr id="104" name=""/>
          <p:cNvSpPr/>
          <p:nvPr/>
        </p:nvSpPr>
        <p:spPr>
          <a:xfrm>
            <a:off x="10191750" y="3143250"/>
            <a:ext cx="228600" cy="457200"/>
          </a:xfrm>
          <a:prstGeom prst="downArrow">
            <a:avLst/>
          </a:prstGeom>
          <a:solidFill>
            <a:srgbClr val="777777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sz="1900">
                <a:solidFill>
                  <a:srgbClr val="262626"/>
                </a:solidFill>
                <a:latin typeface="Century Gothic"/>
              </a:rPr>
              <a:t/>
            </a:r>
          </a:p>
        </p:txBody>
      </p:sp>
      <p:sp>
        <p:nvSpPr>
          <p:cNvPr id="105" name="Less food&#10;for people"/>
          <p:cNvSpPr/>
          <p:nvPr/>
        </p:nvSpPr>
        <p:spPr>
          <a:xfrm>
            <a:off x="7353300" y="3714750"/>
            <a:ext cx="1952625" cy="742950"/>
          </a:xfrm>
          <a:prstGeom prst="rect">
            <a:avLst/>
          </a:prstGeom>
          <a:solidFill>
            <a:srgbClr val="F1F1EB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sz="1900">
                <a:solidFill>
                  <a:srgbClr val="262626"/>
                </a:solidFill>
                <a:latin typeface="Century Gothic"/>
              </a:rPr>
              <a:t>Less food</a:t>
            </a:r>
          </a:p>
          <a:p>
            <a:pPr algn="ctr">
              <a:buNone/>
            </a:pPr>
            <a:r>
              <a:rPr sz="1900">
                <a:solidFill>
                  <a:srgbClr val="262626"/>
                </a:solidFill>
                <a:latin typeface="Century Gothic"/>
              </a:rPr>
              <a:t>for people</a:t>
            </a:r>
          </a:p>
        </p:txBody>
      </p:sp>
      <p:sp>
        <p:nvSpPr>
          <p:cNvPr id="106" name="Less feed&#10;for pigs"/>
          <p:cNvSpPr/>
          <p:nvPr/>
        </p:nvSpPr>
        <p:spPr>
          <a:xfrm>
            <a:off x="9505950" y="3714750"/>
            <a:ext cx="1952625" cy="742950"/>
          </a:xfrm>
          <a:prstGeom prst="rect">
            <a:avLst/>
          </a:prstGeom>
          <a:solidFill>
            <a:srgbClr val="F1F1EB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sz="1900">
                <a:solidFill>
                  <a:srgbClr val="262626"/>
                </a:solidFill>
                <a:latin typeface="Century Gothic"/>
              </a:rPr>
              <a:t>Less feed</a:t>
            </a:r>
          </a:p>
          <a:p>
            <a:pPr algn="ctr">
              <a:buNone/>
            </a:pPr>
            <a:r>
              <a:rPr sz="1900">
                <a:solidFill>
                  <a:srgbClr val="262626"/>
                </a:solidFill>
                <a:latin typeface="Century Gothic"/>
              </a:rPr>
              <a:t>for pigs</a:t>
            </a:r>
          </a:p>
        </p:txBody>
      </p:sp>
      <p:sp>
        <p:nvSpPr>
          <p:cNvPr id="107" name=""/>
          <p:cNvSpPr/>
          <p:nvPr/>
        </p:nvSpPr>
        <p:spPr>
          <a:xfrm>
            <a:off x="10334625" y="4524375"/>
            <a:ext cx="228600" cy="381000"/>
          </a:xfrm>
          <a:prstGeom prst="downArrow">
            <a:avLst/>
          </a:prstGeom>
          <a:solidFill>
            <a:srgbClr val="777777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sz="1900">
                <a:solidFill>
                  <a:srgbClr val="262626"/>
                </a:solidFill>
                <a:latin typeface="Century Gothic"/>
              </a:rPr>
              <a:t/>
            </a:r>
          </a:p>
        </p:txBody>
      </p:sp>
      <p:sp>
        <p:nvSpPr>
          <p:cNvPr id="108" name="Lost household&#10;income"/>
          <p:cNvSpPr/>
          <p:nvPr/>
        </p:nvSpPr>
        <p:spPr>
          <a:xfrm>
            <a:off x="9505950" y="5000625"/>
            <a:ext cx="1952625" cy="742950"/>
          </a:xfrm>
          <a:prstGeom prst="rect">
            <a:avLst/>
          </a:prstGeom>
          <a:solidFill>
            <a:srgbClr val="ECD8D8"/>
          </a:solidFill>
          <a:ln>
            <a:noFill/>
          </a:ln>
        </p:spPr>
        <p:txBody>
          <a:bodyPr anchor="ctr" wrap="square"/>
          <a:lstStyle/>
          <a:p>
            <a:pPr algn="ctr">
              <a:buNone/>
            </a:pPr>
            <a:r>
              <a:rPr sz="1900">
                <a:solidFill>
                  <a:srgbClr val="262626"/>
                </a:solidFill>
                <a:latin typeface="Century Gothic"/>
              </a:rPr>
              <a:t>Lost household</a:t>
            </a:r>
          </a:p>
          <a:p>
            <a:pPr algn="ctr">
              <a:buNone/>
            </a:pPr>
            <a:r>
              <a:rPr sz="1900">
                <a:solidFill>
                  <a:srgbClr val="262626"/>
                </a:solidFill>
                <a:latin typeface="Century Gothic"/>
              </a:rPr>
              <a:t>income</a:t>
            </a:r>
          </a:p>
        </p:txBody>
      </p:sp>
    </p:spTree>
    <p:extLst>
      <p:ext uri="{BB962C8B-B14F-4D97-AF65-F5344CB8AC3E}">
        <p14:creationId xmlns:p14="http://schemas.microsoft.com/office/powerpoint/2010/main" val="29706251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didn’t they just fish?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52600"/>
            <a:ext cx="6400800" cy="4343400"/>
          </a:xfrm>
        </p:spPr>
        <p:txBody>
          <a:bodyPr/>
          <a:lstStyle/>
          <a:p>
            <a:r>
              <a:rPr lang="en-GB" u="sng" dirty="0"/>
              <a:t>Ireland is an island!</a:t>
            </a:r>
          </a:p>
          <a:p>
            <a:r>
              <a:rPr lang="en-GB" dirty="0"/>
              <a:t>But: poorly capitalised fishing </a:t>
            </a:r>
            <a:br>
              <a:rPr lang="en-GB" dirty="0"/>
            </a:br>
            <a:r>
              <a:rPr lang="en-GB" dirty="0"/>
              <a:t>vessels</a:t>
            </a:r>
          </a:p>
          <a:p>
            <a:r>
              <a:rPr lang="en-GB" dirty="0"/>
              <a:t>Poorly developed infrastructure</a:t>
            </a:r>
          </a:p>
          <a:p>
            <a:pPr lvl="1"/>
            <a:r>
              <a:rPr lang="en-GB" dirty="0"/>
              <a:t>Lack of ports, harbours, railways</a:t>
            </a:r>
          </a:p>
          <a:p>
            <a:pPr lvl="1"/>
            <a:r>
              <a:rPr lang="en-GB" dirty="0"/>
              <a:t>Fish are perishable goods</a:t>
            </a:r>
          </a:p>
          <a:p>
            <a:r>
              <a:rPr lang="en-GB" dirty="0"/>
              <a:t>Very dangerous seas </a:t>
            </a:r>
          </a:p>
          <a:p>
            <a:r>
              <a:rPr lang="en-GB" dirty="0"/>
              <a:t>Fishermen pawned their gear for meal</a:t>
            </a:r>
          </a:p>
          <a:p>
            <a:pPr lvl="1"/>
            <a:r>
              <a:rPr lang="en-GB" dirty="0"/>
              <a:t>Decrease in fishing in Famine years!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8825">
            <a:off x="6567080" y="1837335"/>
            <a:ext cx="5155382" cy="29963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40254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A261F5-214B-D9E9-E649-28613350E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IV:</a:t>
            </a:r>
            <a:br>
              <a:rPr lang="en-GB" dirty="0"/>
            </a:br>
            <a:r>
              <a:rPr lang="en-GB" dirty="0"/>
              <a:t>Migration as </a:t>
            </a:r>
            <a:br>
              <a:rPr lang="en-GB" dirty="0"/>
            </a:br>
            <a:r>
              <a:rPr lang="en-GB" dirty="0"/>
              <a:t>disaster relief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A3E97B-DA48-296C-2C5D-5D350B210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Who migrated, and why?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B75BD-A976-3B29-DDE3-21A7B5B3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1553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Irish in America</a:t>
            </a:r>
          </a:p>
        </p:txBody>
      </p:sp>
      <p:pic>
        <p:nvPicPr>
          <p:cNvPr id="6" name="Content Placeholder 5" descr="Irish-born population by US state, 1870. Darker shading indicates larger numbers."/>
          <p:cNvPicPr>
            <a:picLocks noGrp="1" noChangeAspect="1"/>
          </p:cNvPicPr>
          <p:nvPr>
            <p:ph idx="1"/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0" y="1266825"/>
            <a:ext cx="8953500" cy="4924425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FC2C9D-C73D-2E4F-FE2E-017BDA69AE88}"/>
              </a:ext>
            </a:extLst>
          </p:cNvPr>
          <p:cNvSpPr txBox="1"/>
          <p:nvPr/>
        </p:nvSpPr>
        <p:spPr>
          <a:xfrm>
            <a:off x="2857500" y="6257925"/>
            <a:ext cx="86677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buNone/>
            </a:pPr>
            <a:r>
              <a:rPr lang="en-GB" sz="1200"/>
              <a:t>Irish-born population by US state, 1870. Colvin &amp; McLaughlin, book manuscript.</a:t>
            </a:r>
          </a:p>
        </p:txBody>
      </p:sp>
    </p:spTree>
    <p:extLst>
      <p:ext uri="{BB962C8B-B14F-4D97-AF65-F5344CB8AC3E}">
        <p14:creationId xmlns:p14="http://schemas.microsoft.com/office/powerpoint/2010/main" val="8509157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Permanent and irreversible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Migration was a form of disaster relief </a:t>
            </a:r>
          </a:p>
          <a:p>
            <a:pPr lvl="1"/>
            <a:r>
              <a:rPr lang="en-GB" dirty="0"/>
              <a:t>Bringing population to foreign food supplies!</a:t>
            </a:r>
          </a:p>
          <a:p>
            <a:r>
              <a:rPr lang="en-GB" dirty="0" err="1"/>
              <a:t>Ó</a:t>
            </a:r>
            <a:r>
              <a:rPr lang="en-GB" dirty="0"/>
              <a:t> </a:t>
            </a:r>
            <a:r>
              <a:rPr lang="en-GB" dirty="0" err="1"/>
              <a:t>Gráda</a:t>
            </a:r>
            <a:r>
              <a:rPr lang="en-GB" dirty="0"/>
              <a:t> &amp; O’Rourke find emigration-to-deaths ratio was higher in richer than poorer counties</a:t>
            </a:r>
          </a:p>
          <a:p>
            <a:r>
              <a:rPr lang="en-GB" u="sng" dirty="0"/>
              <a:t>Unlike other famines in history, Irish Famine emigration was permanent and irreversible</a:t>
            </a:r>
          </a:p>
          <a:p>
            <a:r>
              <a:rPr lang="en-GB" dirty="0"/>
              <a:t>Contributed to elimination of Irish poverty trap and convergence in living standards with rest of UK</a:t>
            </a:r>
          </a:p>
          <a:p>
            <a:r>
              <a:rPr lang="en-GB" dirty="0"/>
              <a:t>Emigration abroad as second step, following internal migration towards cities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4660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Costs and benefits </a:t>
            </a:r>
            <a:br>
              <a:rPr lang="en-GB" dirty="0"/>
            </a:br>
            <a:r>
              <a:rPr lang="en-GB" dirty="0"/>
              <a:t>of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Passage to North America cost a few pounds, about 1/3 to 1/2 of unskilled worker’s annual wage</a:t>
            </a:r>
          </a:p>
          <a:p>
            <a:r>
              <a:rPr lang="en-GB" dirty="0"/>
              <a:t>Only a tiny portion of emigration was state or landlord-assisted</a:t>
            </a:r>
          </a:p>
          <a:p>
            <a:r>
              <a:rPr lang="en-GB" u="sng" dirty="0"/>
              <a:t>Most destitute were excluded from escape option</a:t>
            </a:r>
          </a:p>
          <a:p>
            <a:r>
              <a:rPr lang="en-GB" dirty="0"/>
              <a:t>Average incomes were about half those of Britain pre-Famine</a:t>
            </a:r>
          </a:p>
          <a:p>
            <a:r>
              <a:rPr lang="en-GB" dirty="0"/>
              <a:t>When looking at smaller geographic unit of analysis than counties, Ó </a:t>
            </a:r>
            <a:r>
              <a:rPr lang="en-GB" dirty="0" err="1"/>
              <a:t>Gráda</a:t>
            </a:r>
            <a:r>
              <a:rPr lang="en-GB" dirty="0"/>
              <a:t> &amp; O’Rourke find that Mokyr perhaps rejected Malthusianism too soon…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7089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Famine deaths and emigration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752600"/>
            <a:ext cx="5964517" cy="41148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772400" y="1752600"/>
            <a:ext cx="25908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Counties with higher death rates had fewer emigrants per death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8718746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Wages and death rates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752600"/>
            <a:ext cx="5943600" cy="4117388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772400" y="1752600"/>
            <a:ext cx="26670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Counties with low wages, high dependency on potato and large drop in potato acreage had higher death and emigration rates</a:t>
            </a:r>
          </a:p>
        </p:txBody>
      </p:sp>
    </p:spTree>
    <p:extLst>
      <p:ext uri="{BB962C8B-B14F-4D97-AF65-F5344CB8AC3E}">
        <p14:creationId xmlns:p14="http://schemas.microsoft.com/office/powerpoint/2010/main" val="20742289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Emigration, deaths </a:t>
            </a:r>
            <a:br>
              <a:rPr lang="en-GB" dirty="0"/>
            </a:br>
            <a:r>
              <a:rPr lang="en-GB" dirty="0"/>
              <a:t>and wages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752600"/>
            <a:ext cx="5917690" cy="4191002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772400" y="1752600"/>
            <a:ext cx="25908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The richer the county, the higher the ratio of emigration to deaths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Supports hypothesis that poorest died rather than emigrated </a:t>
            </a:r>
          </a:p>
        </p:txBody>
      </p:sp>
    </p:spTree>
    <p:extLst>
      <p:ext uri="{BB962C8B-B14F-4D97-AF65-F5344CB8AC3E}">
        <p14:creationId xmlns:p14="http://schemas.microsoft.com/office/powerpoint/2010/main" val="26624860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GB"/>
              <a:t>Was the Famine predictable?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As we have discussed, </a:t>
            </a:r>
            <a:r>
              <a:rPr lang="en-GB" dirty="0" err="1"/>
              <a:t>Mokyr</a:t>
            </a:r>
            <a:r>
              <a:rPr lang="en-GB" dirty="0"/>
              <a:t> finds little evidence of a Malthusian explanation for the Famine</a:t>
            </a:r>
          </a:p>
          <a:p>
            <a:r>
              <a:rPr lang="en-GB" dirty="0"/>
              <a:t>Mokyr’s numbers have largely survived criticism</a:t>
            </a:r>
          </a:p>
          <a:p>
            <a:r>
              <a:rPr lang="en-GB" dirty="0"/>
              <a:t>Sheer statistical improbability of the Famine highlighted in work of Peter Solar</a:t>
            </a:r>
          </a:p>
          <a:p>
            <a:r>
              <a:rPr lang="en-GB" dirty="0"/>
              <a:t>Given past experience, potato was slightly riskier than grain, but rewards outweighed risk</a:t>
            </a:r>
          </a:p>
          <a:p>
            <a:r>
              <a:rPr lang="en-GB" dirty="0"/>
              <a:t>The political economy of the period means spending more on famine relief was difficult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96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11E8BD-95DF-09D9-503F-C1FE968A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V:</a:t>
            </a:r>
            <a:br>
              <a:rPr lang="en-GB" dirty="0"/>
            </a:br>
            <a:r>
              <a:rPr lang="en-GB" dirty="0"/>
              <a:t>Post-Famine development</a:t>
            </a:r>
            <a:br>
              <a:rPr lang="en-GB" dirty="0"/>
            </a:br>
            <a:r>
              <a:rPr lang="en-GB" dirty="0"/>
              <a:t>and convergence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26E25A-38DA-AE0E-0260-8DDFA98FE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did Ireland change post-Famine?</a:t>
            </a:r>
          </a:p>
          <a:p>
            <a:r>
              <a:rPr lang="en-GB" dirty="0"/>
              <a:t>(Focusing especially on human capital development)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D05BE-FEAD-A29B-F3DB-188966CF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3957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C519E3-6E48-1AFB-64A0-7511AD570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Religion and Development </a:t>
            </a:r>
            <a:br>
              <a:rPr lang="en-GB" dirty="0"/>
            </a:br>
            <a:r>
              <a:rPr lang="en-GB" dirty="0"/>
              <a:t>in Post-Famine Ireland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2A52CA-84BD-154B-5992-E81DA17BA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Henderson (</a:t>
            </a:r>
            <a:r>
              <a:rPr lang="en-GB" i="1" dirty="0"/>
              <a:t>EHR</a:t>
            </a:r>
            <a:r>
              <a:rPr lang="en-GB" dirty="0"/>
              <a:t>, 2019) asks: Did Catholicism help or hinder Ireland’s post-Famine development?</a:t>
            </a:r>
          </a:p>
          <a:p>
            <a:r>
              <a:rPr lang="en-GB" dirty="0"/>
              <a:t>Method: Quantitative analysis of aggregated 19th–20th century census data on education, occupations, and financial inclusion</a:t>
            </a:r>
          </a:p>
          <a:p>
            <a:r>
              <a:rPr lang="en-GB" dirty="0"/>
              <a:t>Key findings:</a:t>
            </a:r>
          </a:p>
          <a:p>
            <a:pPr lvl="1"/>
            <a:r>
              <a:rPr lang="en-GB" dirty="0"/>
              <a:t>Catholics began at a clear economic and educational disadvantage</a:t>
            </a:r>
          </a:p>
          <a:p>
            <a:pPr lvl="1"/>
            <a:r>
              <a:rPr lang="en-GB" dirty="0"/>
              <a:t>Rapid improvements in literacy and professional attainment followed</a:t>
            </a:r>
          </a:p>
          <a:p>
            <a:pPr lvl="1"/>
            <a:r>
              <a:rPr lang="en-GB" dirty="0"/>
              <a:t>Religious differences in development narrowed sharply over time</a:t>
            </a:r>
          </a:p>
          <a:p>
            <a:r>
              <a:rPr lang="en-GB" dirty="0"/>
              <a:t>Interpretation: Evidence of a “Catholic embourgeoisement” </a:t>
            </a:r>
          </a:p>
          <a:p>
            <a:pPr lvl="1"/>
            <a:r>
              <a:rPr lang="en-GB" dirty="0"/>
              <a:t>Catholics converged with Protestants economically</a:t>
            </a:r>
          </a:p>
          <a:p>
            <a:pPr lvl="1"/>
            <a:r>
              <a:rPr lang="en-GB" dirty="0"/>
              <a:t>Religion’s role in underdevelopment declined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416F0-A33D-7E0A-F8ED-4AB37468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080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1FEE-745B-5099-1836-7C79DA78E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Sources of convergence </a:t>
            </a:r>
            <a:br>
              <a:rPr lang="en-GB" dirty="0"/>
            </a:br>
            <a:r>
              <a:rPr lang="en-GB" dirty="0"/>
              <a:t>between Ireland and Great Britain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6ACEA-5589-5295-35ED-F4AC99A49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By the turn of the century, Ireland had narrowed the gap with the rest of the UK substantially, although convergence remained incomplete</a:t>
            </a:r>
          </a:p>
          <a:p>
            <a:r>
              <a:rPr lang="en-GB" dirty="0"/>
              <a:t>What drove this impressive convergence?</a:t>
            </a:r>
          </a:p>
          <a:p>
            <a:r>
              <a:rPr lang="en-GB" dirty="0"/>
              <a:t>Population hypothesis: demographic upheaval (migration, ageing)</a:t>
            </a:r>
          </a:p>
          <a:p>
            <a:r>
              <a:rPr lang="en-GB" u="sng" dirty="0"/>
              <a:t>Challenge</a:t>
            </a:r>
            <a:r>
              <a:rPr lang="en-GB" dirty="0"/>
              <a:t>: Geary &amp; Stark (</a:t>
            </a:r>
            <a:r>
              <a:rPr lang="en-GB" i="1" dirty="0"/>
              <a:t>Economic Journal</a:t>
            </a:r>
            <a:r>
              <a:rPr lang="en-GB" dirty="0"/>
              <a:t>, 2002) argue that convergence was much more due to capital accumulation and TFP growth</a:t>
            </a:r>
          </a:p>
          <a:p>
            <a:r>
              <a:rPr lang="en-GB" dirty="0"/>
              <a:t>TFP (Total Factor Productivity) = Solow’s residual </a:t>
            </a:r>
          </a:p>
          <a:p>
            <a:pPr lvl="1"/>
            <a:r>
              <a:rPr lang="en-GB" dirty="0"/>
              <a:t>Growth that cannot be explained by the accumulation of capital and labour</a:t>
            </a:r>
          </a:p>
          <a:p>
            <a:pPr lvl="1"/>
            <a:r>
              <a:rPr lang="en-GB" dirty="0"/>
              <a:t>Driven by things like human capital accumulation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4F329-8B91-BF39-5329-443D0D8E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190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Pre-Famine literacy rates</a:t>
            </a:r>
            <a:br>
              <a:rPr lang="en-GB" sz="4000" dirty="0"/>
            </a:br>
            <a:r>
              <a:rPr lang="en-GB" sz="4000" dirty="0"/>
              <a:t/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304800" y="1752601"/>
            <a:ext cx="7239000" cy="4373563"/>
          </a:xfrm>
        </p:spPr>
        <p:txBody>
          <a:bodyPr>
            <a:noAutofit/>
          </a:bodyPr>
          <a:lstStyle/>
          <a:p>
            <a:r>
              <a:rPr lang="en-GB" sz="2400" dirty="0"/>
              <a:t>Literacy inferred from pre-Famine census</a:t>
            </a:r>
          </a:p>
          <a:p>
            <a:r>
              <a:rPr lang="en-GB" sz="2400" dirty="0"/>
              <a:t>Show urban industrialised areas more literate than rural areas</a:t>
            </a:r>
          </a:p>
          <a:p>
            <a:r>
              <a:rPr lang="en-GB" sz="2400" dirty="0"/>
              <a:t>Incidence of the Famine somewhat correlated with literacy</a:t>
            </a:r>
          </a:p>
          <a:p>
            <a:r>
              <a:rPr lang="en-GB" sz="2400" u="sng" dirty="0"/>
              <a:t>What is the connection between education and famine incidence? </a:t>
            </a:r>
          </a:p>
          <a:p>
            <a:r>
              <a:rPr lang="en-GB" sz="2400" u="sng" dirty="0"/>
              <a:t>And between education, famine and migration?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55</a:t>
            </a:fld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1600200"/>
            <a:ext cx="3450773" cy="4525963"/>
          </a:xfrm>
        </p:spPr>
      </p:pic>
    </p:spTree>
    <p:extLst>
      <p:ext uri="{BB962C8B-B14F-4D97-AF65-F5344CB8AC3E}">
        <p14:creationId xmlns:p14="http://schemas.microsoft.com/office/powerpoint/2010/main" val="42525118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Long legacy of Ireland’s </a:t>
            </a:r>
            <a:br>
              <a:rPr lang="en-GB" dirty="0"/>
            </a:br>
            <a:r>
              <a:rPr lang="en-GB" dirty="0"/>
              <a:t>pre-Famine education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Ireland benefited from “hedge schools”, long before national schooling </a:t>
            </a:r>
          </a:p>
          <a:p>
            <a:pPr lvl="1"/>
            <a:r>
              <a:rPr lang="en-GB" dirty="0"/>
              <a:t>Location: </a:t>
            </a:r>
            <a:r>
              <a:rPr lang="en-GB" dirty="0">
                <a:hlinkClick r:id="rId2"/>
              </a:rPr>
              <a:t>https://ceph.ie/data-set/schools-in-ireland-1824-5/</a:t>
            </a:r>
            <a:endParaRPr lang="en-GB" dirty="0"/>
          </a:p>
          <a:p>
            <a:pPr lvl="1"/>
            <a:r>
              <a:rPr lang="en-GB" dirty="0"/>
              <a:t>1821 census: Ó </a:t>
            </a:r>
            <a:r>
              <a:rPr lang="en-GB" dirty="0" err="1"/>
              <a:t>Gráda</a:t>
            </a:r>
            <a:r>
              <a:rPr lang="en-GB" dirty="0"/>
              <a:t> calculates 44% of boys and 26% of girls</a:t>
            </a:r>
            <a:r>
              <a:rPr lang="en-US" dirty="0"/>
              <a:t> attended schools</a:t>
            </a:r>
          </a:p>
          <a:p>
            <a:pPr lvl="1"/>
            <a:r>
              <a:rPr lang="en-US" dirty="0"/>
              <a:t>Gender education gap reversed by end of the century</a:t>
            </a:r>
          </a:p>
          <a:p>
            <a:pPr lvl="1"/>
            <a:r>
              <a:rPr lang="en-US" dirty="0"/>
              <a:t>Attendance versus attainment may change picture</a:t>
            </a:r>
          </a:p>
          <a:p>
            <a:r>
              <a:rPr lang="en-US" dirty="0"/>
              <a:t>What explains spatial differences in educational attainment?</a:t>
            </a:r>
          </a:p>
          <a:p>
            <a:pPr lvl="1"/>
            <a:r>
              <a:rPr lang="en-US" dirty="0"/>
              <a:t>Selection: migrants had poorer numeracy skills (Mokyr and </a:t>
            </a:r>
            <a:r>
              <a:rPr lang="en-GB" dirty="0"/>
              <a:t>Ó </a:t>
            </a:r>
            <a:r>
              <a:rPr lang="en-GB" dirty="0" err="1"/>
              <a:t>Gráda</a:t>
            </a:r>
            <a:r>
              <a:rPr lang="en-GB" dirty="0"/>
              <a:t>)</a:t>
            </a:r>
            <a:endParaRPr lang="en-US" dirty="0"/>
          </a:p>
          <a:p>
            <a:pPr lvl="1"/>
            <a:r>
              <a:rPr lang="en-US" dirty="0"/>
              <a:t>Strong regional variation in educational attainment (Fitzpatrick)</a:t>
            </a:r>
          </a:p>
          <a:p>
            <a:pPr lvl="1"/>
            <a:r>
              <a:rPr lang="en-US" dirty="0"/>
              <a:t>Education explains little of the regional variation in drivers of migration (Hatton &amp; Williamson)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4284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0041D-C17C-C312-1FB8-C3B0EEFD7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Literacy and religion in 1901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4247B-6E89-A2FE-128C-9CF876C4C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52600"/>
            <a:ext cx="6400800" cy="4343400"/>
          </a:xfrm>
        </p:spPr>
        <p:txBody>
          <a:bodyPr/>
          <a:lstStyle/>
          <a:p>
            <a:r>
              <a:rPr lang="en-GB" dirty="0"/>
              <a:t>Fernihough and Henderson (</a:t>
            </a:r>
            <a:r>
              <a:rPr lang="en-GB" i="1" dirty="0"/>
              <a:t>Explorations in Economic History</a:t>
            </a:r>
            <a:r>
              <a:rPr lang="en-GB" dirty="0"/>
              <a:t>, 2025) find Protestantism correlated with literacy</a:t>
            </a:r>
          </a:p>
          <a:p>
            <a:r>
              <a:rPr lang="en-GB" dirty="0"/>
              <a:t>Robust to various socioeconomic control variables</a:t>
            </a:r>
          </a:p>
          <a:p>
            <a:r>
              <a:rPr lang="en-GB" dirty="0"/>
              <a:t>Disparities pre-exist national schooling from 1831</a:t>
            </a:r>
          </a:p>
          <a:p>
            <a:r>
              <a:rPr lang="en-GB" dirty="0"/>
              <a:t>Higher demand for literacy especially from Presbyterianism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A02E1-71E4-DFC6-C089-459DF1785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6" name="Picture 5" descr="A map of different colors&#10;&#10;AI-generated content may be incorrect.">
            <a:extLst>
              <a:ext uri="{FF2B5EF4-FFF2-40B4-BE49-F238E27FC236}">
                <a16:creationId xmlns:a16="http://schemas.microsoft.com/office/drawing/2014/main" id="{92B372FB-564F-3D45-668A-66A83827F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666686"/>
            <a:ext cx="4771497" cy="456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257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F41A7-D3B2-68C6-FB67-92CE98796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Ireland’s shifting language frontier</a:t>
            </a:r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DCE7B07-1105-1CE3-DA6A-F9D0EF0D4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174" y="1371600"/>
            <a:ext cx="9342452" cy="44958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A8799-4F99-B9BC-032D-456C09253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7" name="Clarifying label"/>
          <p:cNvSpPr txBox="1"/>
          <p:nvPr/>
        </p:nvSpPr>
        <p:spPr>
          <a:xfrm>
            <a:off x="2984500" y="946150"/>
            <a:ext cx="6096000" cy="241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 wrap="none"/>
          <a:lstStyle/>
          <a:p>
            <a:pPr algn="ctr">
              <a:buNone/>
            </a:pPr>
            <a:r>
              <a:rPr lang="en-GB" sz="1600">
                <a:solidFill>
                  <a:srgbClr val="000000"/>
                </a:solidFill>
                <a:latin typeface="Century Gothic"/>
              </a:rPr>
              <a:t>Dates refer to birth cohorts</a:t>
            </a:r>
          </a:p>
        </p:txBody>
      </p:sp>
    </p:spTree>
    <p:extLst>
      <p:ext uri="{BB962C8B-B14F-4D97-AF65-F5344CB8AC3E}">
        <p14:creationId xmlns:p14="http://schemas.microsoft.com/office/powerpoint/2010/main" val="25209030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4CAFF-DD72-7D9C-5985-24D5E7FAA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Explaining the language decline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D7453-14E8-5096-30BD-4A3578F63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52600"/>
            <a:ext cx="7136658" cy="4343400"/>
          </a:xfrm>
        </p:spPr>
        <p:txBody>
          <a:bodyPr>
            <a:normAutofit/>
          </a:bodyPr>
          <a:lstStyle/>
          <a:p>
            <a:r>
              <a:rPr lang="en-GB" dirty="0"/>
              <a:t>Fernihough, Colvin, McLaughlin &amp; Neary ask: Why did the Irish language retreat so rapidly?</a:t>
            </a:r>
          </a:p>
          <a:p>
            <a:r>
              <a:rPr lang="en-GB" dirty="0"/>
              <a:t>Household-level analysis of 1901 census data </a:t>
            </a:r>
          </a:p>
          <a:p>
            <a:r>
              <a:rPr lang="en-GB" dirty="0"/>
              <a:t>We test six hypotheses in a horse race:</a:t>
            </a:r>
          </a:p>
          <a:p>
            <a:pPr marL="650082" lvl="1" indent="-457200">
              <a:buFont typeface="+mj-lt"/>
              <a:buAutoNum type="arabicPeriod"/>
            </a:pPr>
            <a:r>
              <a:rPr lang="en-GB" u="sng" dirty="0"/>
              <a:t>English-medium education</a:t>
            </a:r>
            <a:r>
              <a:rPr lang="en-GB" dirty="0"/>
              <a:t/>
            </a:r>
          </a:p>
          <a:p>
            <a:pPr marL="650082" lvl="1" indent="-457200">
              <a:buFont typeface="+mj-lt"/>
              <a:buAutoNum type="arabicPeriod"/>
            </a:pPr>
            <a:r>
              <a:rPr lang="en-GB" dirty="0"/>
              <a:t>Politics</a:t>
            </a:r>
          </a:p>
          <a:p>
            <a:pPr marL="650082" lvl="1" indent="-457200">
              <a:buFont typeface="+mj-lt"/>
              <a:buAutoNum type="arabicPeriod"/>
            </a:pPr>
            <a:r>
              <a:rPr lang="en-GB" dirty="0"/>
              <a:t>Religion</a:t>
            </a:r>
          </a:p>
          <a:p>
            <a:pPr marL="650082" lvl="1" indent="-457200">
              <a:buFont typeface="+mj-lt"/>
              <a:buAutoNum type="arabicPeriod"/>
            </a:pPr>
            <a:r>
              <a:rPr lang="en-GB" dirty="0"/>
              <a:t>Demography </a:t>
            </a:r>
          </a:p>
          <a:p>
            <a:pPr marL="650082" lvl="1" indent="-457200">
              <a:buFont typeface="+mj-lt"/>
              <a:buAutoNum type="arabicPeriod"/>
            </a:pPr>
            <a:r>
              <a:rPr lang="en-GB" dirty="0"/>
              <a:t>State</a:t>
            </a:r>
          </a:p>
          <a:p>
            <a:pPr marL="650082" lvl="1" indent="-457200">
              <a:buFont typeface="+mj-lt"/>
              <a:buAutoNum type="arabicPeriod"/>
            </a:pPr>
            <a:r>
              <a:rPr lang="en-GB" dirty="0"/>
              <a:t>Economy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EBB6F-49F8-7719-BF12-1835212A7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61</a:t>
            </a:fld>
            <a:endParaRPr lang="en-US" dirty="0"/>
          </a:p>
        </p:txBody>
      </p:sp>
      <p:pic>
        <p:nvPicPr>
          <p:cNvPr id="6" name="Picture 5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36B977B8-C8AE-176C-CC06-38CC2F0A0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458" y="1604883"/>
            <a:ext cx="4516298" cy="464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762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FB5B2-9837-19A5-1825-B8CCFD72D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Demand versus supply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973D7-363E-6559-7F1D-B70AF8294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Education was the strongest driver; pre-Famine voluntary “hedge schools” teaching in English created an </a:t>
            </a:r>
            <a:r>
              <a:rPr lang="en-GB" u="sng" dirty="0"/>
              <a:t>endogenous demand for English</a:t>
            </a:r>
          </a:p>
          <a:p>
            <a:r>
              <a:rPr lang="en-GB" dirty="0"/>
              <a:t>Intergenerational transmission: language loss occurred within households and local communities</a:t>
            </a:r>
          </a:p>
          <a:p>
            <a:r>
              <a:rPr lang="en-GB" dirty="0"/>
              <a:t>Religion, nationalism, and state policy had only secondary roles</a:t>
            </a:r>
          </a:p>
          <a:p>
            <a:r>
              <a:rPr lang="en-GB" dirty="0"/>
              <a:t>Our findings emphasise household choices and local transmission</a:t>
            </a:r>
            <a:r>
              <a:rPr lang="en-GB" u="sng" dirty="0"/>
              <a:t/>
            </a:r>
            <a:r>
              <a:rPr lang="en-GB" dirty="0"/>
              <a:t/>
            </a:r>
          </a:p>
          <a:p>
            <a:r>
              <a:rPr lang="en-GB" dirty="0"/>
              <a:t>Our interpretation emphasises economic and social adaptation</a:t>
            </a:r>
          </a:p>
          <a:p>
            <a:r>
              <a:rPr lang="en-GB" dirty="0"/>
              <a:t>Our work highlights the central role of education and parental choice in shaping linguistic frontiers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66731-6736-8615-65FB-F00036746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2211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Estimating numeracy </a:t>
            </a:r>
            <a:br>
              <a:rPr lang="en-GB" dirty="0"/>
            </a:br>
            <a:r>
              <a:rPr lang="en-GB" dirty="0"/>
              <a:t>from age heaping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Literacy measurements are a crude measure, and school attendance tells little about educational </a:t>
            </a:r>
            <a:r>
              <a:rPr lang="en-US" u="sng" dirty="0"/>
              <a:t>attainment</a:t>
            </a:r>
          </a:p>
          <a:p>
            <a:r>
              <a:rPr lang="en-US" dirty="0"/>
              <a:t>Distribution of ages in many sources cannot reflect “real” distribution; they seem “bunched” together</a:t>
            </a:r>
          </a:p>
          <a:p>
            <a:r>
              <a:rPr lang="en-US" u="sng" dirty="0"/>
              <a:t>Phenomenon known as “age heaping”</a:t>
            </a:r>
          </a:p>
          <a:p>
            <a:endParaRPr lang="en-US" sz="1000" dirty="0"/>
          </a:p>
          <a:p>
            <a:endParaRPr lang="en-US" dirty="0"/>
          </a:p>
          <a:p>
            <a:r>
              <a:rPr lang="en-US" dirty="0"/>
              <a:t>The Whipple Index measures the proportion reporting a rounded age ending with 0 or 5</a:t>
            </a:r>
          </a:p>
          <a:p>
            <a:r>
              <a:rPr lang="en-US" dirty="0"/>
              <a:t>Used by the UN to measure data quality</a:t>
            </a:r>
          </a:p>
          <a:p>
            <a:r>
              <a:rPr lang="en-US" dirty="0"/>
              <a:t>We are going to use it as an indicator of </a:t>
            </a:r>
            <a:r>
              <a:rPr lang="en-US" u="sng" dirty="0"/>
              <a:t>human capital (numeracy)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64</a:t>
            </a:fld>
            <a:endParaRPr lang="en-US" dirty="0"/>
          </a:p>
        </p:txBody>
      </p:sp>
      <p:pic>
        <p:nvPicPr>
          <p:cNvPr id="6" name="Picture 5" descr="eq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3692625"/>
            <a:ext cx="7497837" cy="46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059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Measuring women’s numeracy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Földvári</a:t>
            </a:r>
            <a:r>
              <a:rPr lang="en-GB" dirty="0"/>
              <a:t>, Van </a:t>
            </a:r>
            <a:r>
              <a:rPr lang="en-GB" dirty="0" err="1"/>
              <a:t>Leeuwen</a:t>
            </a:r>
            <a:r>
              <a:rPr lang="en-GB" dirty="0"/>
              <a:t> and Van </a:t>
            </a:r>
            <a:r>
              <a:rPr lang="en-GB" dirty="0" err="1"/>
              <a:t>Leeuwen</a:t>
            </a:r>
            <a:r>
              <a:rPr lang="en-GB" dirty="0"/>
              <a:t>-Li (</a:t>
            </a:r>
            <a:r>
              <a:rPr lang="en-GB" i="1" dirty="0"/>
              <a:t>EHR</a:t>
            </a:r>
            <a:r>
              <a:rPr lang="en-GB" dirty="0"/>
              <a:t>, 2013) argue we know little about </a:t>
            </a:r>
            <a:r>
              <a:rPr lang="en-GB" u="sng" dirty="0"/>
              <a:t>female</a:t>
            </a:r>
            <a:r>
              <a:rPr lang="en-GB" dirty="0"/>
              <a:t> numeracy from age heaping</a:t>
            </a:r>
          </a:p>
          <a:p>
            <a:pPr lvl="1"/>
            <a:r>
              <a:rPr lang="en-GB" dirty="0"/>
              <a:t>Existing studies largely derive estimates from census data</a:t>
            </a:r>
          </a:p>
          <a:p>
            <a:pPr lvl="1"/>
            <a:r>
              <a:rPr lang="en-GB" dirty="0"/>
              <a:t>But census returns are filled in by male household heads</a:t>
            </a:r>
          </a:p>
          <a:p>
            <a:pPr lvl="1"/>
            <a:r>
              <a:rPr lang="en-GB" dirty="0"/>
              <a:t>Reported ages may reflect the numeracy of the household head</a:t>
            </a:r>
          </a:p>
          <a:p>
            <a:r>
              <a:rPr lang="en-GB" dirty="0"/>
              <a:t>But their solution is potentially problematic</a:t>
            </a:r>
          </a:p>
          <a:p>
            <a:pPr lvl="1"/>
            <a:r>
              <a:rPr lang="en-GB" dirty="0"/>
              <a:t>They argue we should only use ages of unmarried women</a:t>
            </a:r>
          </a:p>
          <a:p>
            <a:pPr lvl="1"/>
            <a:r>
              <a:rPr lang="en-GB" dirty="0"/>
              <a:t>This may introduce selection bias if marital status is associated with education, numeracy, age or socioeconomic background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9219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BFD9-87C5-4728-A3B1-833EDFD5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</a:rPr>
              <a:t>Sources in Irish </a:t>
            </a:r>
            <a:br>
              <a:rPr lang="en-GB" dirty="0">
                <a:effectLst/>
              </a:rPr>
            </a:br>
            <a:r>
              <a:rPr lang="en-GB" dirty="0">
                <a:effectLst/>
              </a:rPr>
              <a:t>demographic history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199C5-FCFE-4E02-9809-544C420A2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Absence of “perfect” data is not a reason to abandon a research topic</a:t>
            </a:r>
          </a:p>
          <a:p>
            <a:r>
              <a:rPr lang="en-GB" dirty="0"/>
              <a:t>But alternative sources come with their own issues</a:t>
            </a:r>
          </a:p>
          <a:p>
            <a:r>
              <a:rPr lang="en-GB" dirty="0"/>
              <a:t>I will introduce these issues using my own research:</a:t>
            </a:r>
          </a:p>
          <a:p>
            <a:pPr lvl="1"/>
            <a:r>
              <a:rPr lang="en-GB" dirty="0"/>
              <a:t>Blum, Colvin, McAtackney &amp; McLaughlin (2017), 'Women of an uncertain age’, </a:t>
            </a:r>
            <a:r>
              <a:rPr lang="en-GB" i="1" dirty="0"/>
              <a:t>The Economic History Review</a:t>
            </a:r>
            <a:r>
              <a:rPr lang="en-GB" dirty="0"/>
              <a:t> 70(1): </a:t>
            </a:r>
            <a:r>
              <a:rPr lang="en-GB" dirty="0">
                <a:hlinkClick r:id="rId2"/>
              </a:rPr>
              <a:t>https://doi.org/10.1111/ehr.12333</a:t>
            </a:r>
            <a:endParaRPr lang="en-GB" dirty="0"/>
          </a:p>
          <a:p>
            <a:pPr lvl="1"/>
            <a:r>
              <a:rPr lang="en-GB" dirty="0"/>
              <a:t>Colvin, Henderson &amp; McLaughlin (2024), ‘Age structure and age heaping’, </a:t>
            </a:r>
            <a:r>
              <a:rPr lang="en-GB" i="1" dirty="0"/>
              <a:t>European Review of Economic History: </a:t>
            </a:r>
            <a:r>
              <a:rPr lang="en-GB" dirty="0">
                <a:hlinkClick r:id="rId3"/>
              </a:rPr>
              <a:t>https://doi.org/10.1093/ereh/heae012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Blum, Colvin &amp; McLaughlin (2025), ‘Scarring and Selection in the Great Irish Famine’, </a:t>
            </a:r>
            <a:r>
              <a:rPr lang="en-GB" i="1" dirty="0"/>
              <a:t>The Economic History Review: </a:t>
            </a:r>
            <a:r>
              <a:rPr lang="en-GB" dirty="0">
                <a:hlinkClick r:id="rId4"/>
              </a:rPr>
              <a:t>https://doi.org/10.1111/ehr.70013</a:t>
            </a:r>
            <a:r>
              <a:rPr lang="en-GB" dirty="0"/>
              <a:t> </a:t>
            </a:r>
          </a:p>
          <a:p>
            <a:pPr lvl="2"/>
            <a:endParaRPr lang="en-GB" dirty="0"/>
          </a:p>
          <a:p>
            <a:pPr lvl="1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0E536-366C-4277-8C05-A98B5A0A6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6086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CACECA-F777-29C2-A81D-A14F06FC8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</a:rPr>
              <a:t>Prison register as a </a:t>
            </a:r>
            <a:br>
              <a:rPr lang="en-GB" dirty="0">
                <a:effectLst/>
              </a:rPr>
            </a:br>
            <a:r>
              <a:rPr lang="en-GB" dirty="0">
                <a:effectLst/>
              </a:rPr>
              <a:t>data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67</a:t>
            </a:fld>
            <a:endParaRPr lang="en-US" dirty="0"/>
          </a:p>
        </p:txBody>
      </p:sp>
      <p:pic>
        <p:nvPicPr>
          <p:cNvPr id="6" name="Content Placeholder 3" descr="Sample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2" r="9040" b="14304"/>
          <a:stretch/>
        </p:blipFill>
        <p:spPr>
          <a:xfrm>
            <a:off x="5410200" y="1837862"/>
            <a:ext cx="6477000" cy="45443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04800" y="1752600"/>
            <a:ext cx="381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Prison registers provide a wealth of individual-level social data (name, age, height, religion, literacy, crime)</a:t>
            </a:r>
          </a:p>
        </p:txBody>
      </p:sp>
    </p:spTree>
    <p:extLst>
      <p:ext uri="{BB962C8B-B14F-4D97-AF65-F5344CB8AC3E}">
        <p14:creationId xmlns:p14="http://schemas.microsoft.com/office/powerpoint/2010/main" val="19949787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718565"/>
              </p:ext>
            </p:extLst>
          </p:nvPr>
        </p:nvGraphicFramePr>
        <p:xfrm>
          <a:off x="5611340" y="1578990"/>
          <a:ext cx="6326660" cy="4676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2AF25F3-BEAF-ACC2-50C1-327C86DA2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Ireland’s 19th-century </a:t>
            </a:r>
            <a:br>
              <a:rPr lang="en-GB" dirty="0"/>
            </a:br>
            <a:r>
              <a:rPr lang="en-GB" dirty="0"/>
              <a:t>prison population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04800" y="1752600"/>
            <a:ext cx="37850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Ireland’s prison population explodes during the Great Famine</a:t>
            </a:r>
          </a:p>
        </p:txBody>
      </p:sp>
    </p:spTree>
    <p:extLst>
      <p:ext uri="{BB962C8B-B14F-4D97-AF65-F5344CB8AC3E}">
        <p14:creationId xmlns:p14="http://schemas.microsoft.com/office/powerpoint/2010/main" val="10652110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 heaping at </a:t>
            </a:r>
            <a:br>
              <a:rPr lang="en-GB" dirty="0"/>
            </a:br>
            <a:r>
              <a:rPr lang="en-GB" dirty="0"/>
              <a:t>Clonmel Gaol</a:t>
            </a:r>
          </a:p>
        </p:txBody>
      </p:sp>
      <p:pic>
        <p:nvPicPr>
          <p:cNvPr id="7" name="Content Placeholder 6" descr="AgeHeape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1" y="1627107"/>
            <a:ext cx="6336936" cy="4620684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78F7BF-7701-C327-CB8E-BC47F256458B}"/>
              </a:ext>
            </a:extLst>
          </p:cNvPr>
          <p:cNvSpPr txBox="1"/>
          <p:nvPr/>
        </p:nvSpPr>
        <p:spPr>
          <a:xfrm>
            <a:off x="304800" y="1752600"/>
            <a:ext cx="4343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Clearly, something is wrong with the data, but what could it mean?</a:t>
            </a:r>
          </a:p>
          <a:p>
            <a:endParaRPr lang="en-GB" sz="2400" dirty="0"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(Not even China’s one-child policy could achieve a pattern like this)</a:t>
            </a:r>
          </a:p>
        </p:txBody>
      </p:sp>
    </p:spTree>
    <p:extLst>
      <p:ext uri="{BB962C8B-B14F-4D97-AF65-F5344CB8AC3E}">
        <p14:creationId xmlns:p14="http://schemas.microsoft.com/office/powerpoint/2010/main" val="22489453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Correcting for the </a:t>
            </a:r>
            <a:br>
              <a:rPr lang="en-GB" dirty="0"/>
            </a:br>
            <a:r>
              <a:rPr lang="en-GB" dirty="0"/>
              <a:t>prison selection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sz="2400" dirty="0"/>
              <a:t>ABCC Index (</a:t>
            </a:r>
            <a:r>
              <a:rPr lang="en-US" sz="2400" dirty="0" err="1"/>
              <a:t>A’Hearn</a:t>
            </a:r>
            <a:r>
              <a:rPr lang="en-US" sz="2400" dirty="0"/>
              <a:t>, </a:t>
            </a:r>
            <a:r>
              <a:rPr lang="en-US" sz="2400" dirty="0" err="1"/>
              <a:t>Baten</a:t>
            </a:r>
            <a:r>
              <a:rPr lang="en-US" sz="2400" dirty="0"/>
              <a:t>, </a:t>
            </a:r>
            <a:r>
              <a:rPr lang="en-US" sz="2400" dirty="0" err="1"/>
              <a:t>Crayen</a:t>
            </a:r>
            <a:r>
              <a:rPr lang="en-US" sz="2400" dirty="0"/>
              <a:t> and Clark) reports society’s share of individuals who know their “true age”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sz="2000" dirty="0"/>
          </a:p>
          <a:p>
            <a:pPr marL="342900" lvl="1" indent="-342900">
              <a:buFont typeface="Arial" pitchFamily="34" charset="0"/>
              <a:buChar char="•"/>
            </a:pPr>
            <a:endParaRPr lang="en-GB" sz="1200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GB" sz="2400" dirty="0"/>
              <a:t>Male heaping patterns are reported by males themselves:</a:t>
            </a:r>
          </a:p>
          <a:p>
            <a:pPr lvl="1"/>
            <a:r>
              <a:rPr lang="en-GB" sz="2000" dirty="0"/>
              <a:t>Compare numeracy of male census and prison population</a:t>
            </a:r>
          </a:p>
          <a:p>
            <a:pPr lvl="1"/>
            <a:r>
              <a:rPr lang="en-GB" sz="2000" dirty="0"/>
              <a:t>We use magnitudes to adjust female prisoners to estimate “true” age heaping of women</a:t>
            </a:r>
          </a:p>
          <a:p>
            <a:pPr marL="457200" lvl="1" indent="0">
              <a:buNone/>
            </a:pPr>
            <a:endParaRPr lang="en-GB" sz="2400" dirty="0"/>
          </a:p>
          <a:p>
            <a:endParaRPr lang="en-GB" sz="1100" dirty="0"/>
          </a:p>
          <a:p>
            <a:r>
              <a:rPr lang="en-GB" dirty="0"/>
              <a:t>The difference gives us part of numeric ability of female census population associated with Földvári bias</a:t>
            </a:r>
          </a:p>
          <a:p>
            <a:endParaRPr lang="en-GB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70</a:t>
            </a:fld>
            <a:endParaRPr lang="en-US" dirty="0"/>
          </a:p>
        </p:txBody>
      </p:sp>
      <p:pic>
        <p:nvPicPr>
          <p:cNvPr id="6" name="Picture 5" descr="eq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325923"/>
            <a:ext cx="7162800" cy="722077"/>
          </a:xfrm>
          <a:prstGeom prst="rect">
            <a:avLst/>
          </a:prstGeom>
        </p:spPr>
      </p:pic>
      <p:pic>
        <p:nvPicPr>
          <p:cNvPr id="7" name="Picture 6" descr="eq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686" y="4463868"/>
            <a:ext cx="6186115" cy="336732"/>
          </a:xfrm>
          <a:prstGeom prst="rect">
            <a:avLst/>
          </a:prstGeom>
        </p:spPr>
      </p:pic>
      <p:pic>
        <p:nvPicPr>
          <p:cNvPr id="8" name="Picture 7" descr="eq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5803324"/>
            <a:ext cx="6248400" cy="34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8904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937E2B-AAAB-DD91-8FB0-55817C4B1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Numeracy of prisoners </a:t>
            </a:r>
            <a:br>
              <a:rPr lang="en-GB" dirty="0"/>
            </a:br>
            <a:r>
              <a:rPr lang="en-GB" dirty="0"/>
              <a:t>versus population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1752600"/>
            <a:ext cx="3886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Age is self-reported by prisoners, but given by the household head in </a:t>
            </a:r>
            <a:b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</a:br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the census</a:t>
            </a:r>
          </a:p>
          <a:p>
            <a:endParaRPr lang="en-GB" sz="2400" dirty="0"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We must correct the census using the prison and workhouse data</a:t>
            </a:r>
          </a:p>
        </p:txBody>
      </p:sp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1A947B2-8F0E-5252-8ED3-D7E12D252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752601"/>
            <a:ext cx="6660643" cy="469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667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0A94C4-A9C4-422B-E32A-F7652EFFC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Prison literacy across </a:t>
            </a:r>
            <a:br>
              <a:rPr lang="en-GB" dirty="0"/>
            </a:br>
            <a:r>
              <a:rPr lang="en-GB" dirty="0"/>
              <a:t>the 19th century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72</a:t>
            </a:fld>
            <a:endParaRPr lang="en-US" dirty="0"/>
          </a:p>
        </p:txBody>
      </p:sp>
      <p:graphicFrame>
        <p:nvGraphicFramePr>
          <p:cNvPr id="4" name="Diagramm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5738529"/>
              </p:ext>
            </p:extLst>
          </p:nvPr>
        </p:nvGraphicFramePr>
        <p:xfrm>
          <a:off x="5486400" y="1600199"/>
          <a:ext cx="6398443" cy="47252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8450" y="1752600"/>
            <a:ext cx="4197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entury Gothic" charset="0"/>
                <a:ea typeface="Century Gothic" charset="0"/>
                <a:cs typeface="Century Gothic" charset="0"/>
              </a:rPr>
              <a:t>Share of prisoners that can read and write improves across the 19th century</a:t>
            </a:r>
          </a:p>
        </p:txBody>
      </p:sp>
    </p:spTree>
    <p:extLst>
      <p:ext uri="{BB962C8B-B14F-4D97-AF65-F5344CB8AC3E}">
        <p14:creationId xmlns:p14="http://schemas.microsoft.com/office/powerpoint/2010/main" val="21162170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BFD9-87C5-4728-A3B1-833EDFD5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/>
              </a:rPr>
              <a:t>Does age heaping </a:t>
            </a:r>
            <a:br>
              <a:rPr lang="en-GB" dirty="0">
                <a:effectLst/>
              </a:rPr>
            </a:br>
            <a:r>
              <a:rPr lang="en-GB" dirty="0">
                <a:effectLst/>
              </a:rPr>
              <a:t>really measure numeracy?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199C5-FCFE-4E02-9809-544C420A2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Proportion of population that heaps widely used as human capital measure</a:t>
            </a:r>
          </a:p>
          <a:p>
            <a:r>
              <a:rPr lang="en-GB" dirty="0"/>
              <a:t>Recent scholarship suggests it may also reflect differences in </a:t>
            </a:r>
            <a:r>
              <a:rPr lang="en-GB" u="sng" dirty="0"/>
              <a:t>state capacity </a:t>
            </a:r>
            <a:r>
              <a:rPr lang="en-GB" dirty="0"/>
              <a:t>or </a:t>
            </a:r>
            <a:r>
              <a:rPr lang="en-GB" u="sng" dirty="0"/>
              <a:t>cultural attitudes</a:t>
            </a:r>
            <a:r>
              <a:rPr lang="en-GB" dirty="0"/>
              <a:t> (see </a:t>
            </a:r>
            <a:r>
              <a:rPr lang="it-IT" dirty="0"/>
              <a:t>A'Hearn, Delfino and Nuvolari, </a:t>
            </a:r>
            <a:r>
              <a:rPr lang="it-IT" i="1" dirty="0"/>
              <a:t>EHR</a:t>
            </a:r>
            <a:r>
              <a:rPr lang="it-IT" dirty="0"/>
              <a:t>,</a:t>
            </a:r>
            <a:r>
              <a:rPr lang="it-IT" i="1" dirty="0"/>
              <a:t> </a:t>
            </a:r>
            <a:r>
              <a:rPr lang="it-IT" dirty="0"/>
              <a:t>2022)</a:t>
            </a:r>
            <a:endParaRPr lang="en-GB" u="sng" dirty="0"/>
          </a:p>
          <a:p>
            <a:r>
              <a:rPr lang="en-GB" dirty="0"/>
              <a:t>We argue: it may be a purely </a:t>
            </a:r>
            <a:r>
              <a:rPr lang="en-GB" u="sng" dirty="0"/>
              <a:t>demographic</a:t>
            </a:r>
            <a:r>
              <a:rPr lang="en-GB" dirty="0"/>
              <a:t> phenomenon</a:t>
            </a:r>
          </a:p>
          <a:p>
            <a:r>
              <a:rPr lang="en-GB" dirty="0"/>
              <a:t>Ireland has an ageing population; the elderly heap more than the young, and so demographic change drives heaping pattern</a:t>
            </a:r>
          </a:p>
          <a:p>
            <a:r>
              <a:rPr lang="en-GB" dirty="0"/>
              <a:t>We need to adjust the age heaping measure to correct for population age structure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0E536-366C-4277-8C05-A98B5A0A6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0352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7AA85-2546-C3BE-BBC0-7D2126DFE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Heaping Irish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ED71C-41EB-BF17-CE4D-E668A2B63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52600"/>
            <a:ext cx="7391399" cy="4495800"/>
          </a:xfrm>
        </p:spPr>
        <p:txBody>
          <a:bodyPr/>
          <a:lstStyle/>
          <a:p>
            <a:r>
              <a:rPr lang="en-GB" dirty="0"/>
              <a:t>Non-technical “popular science” version of our paper on RTÉ Brainstorm website </a:t>
            </a:r>
            <a:br>
              <a:rPr lang="en-GB" dirty="0"/>
            </a:br>
            <a:r>
              <a:rPr lang="en-GB" dirty="0"/>
              <a:t>(18 Oct. 2024):</a:t>
            </a:r>
          </a:p>
          <a:p>
            <a:pPr lvl="1"/>
            <a:r>
              <a:rPr lang="en-GB" dirty="0">
                <a:hlinkClick r:id="rId2"/>
              </a:rPr>
              <a:t>Read the RTÉ Brainstorm article</a:t>
            </a:r>
            <a:r>
              <a:rPr lang="en-GB" dirty="0"/>
              <a:t> </a:t>
            </a:r>
          </a:p>
          <a:p>
            <a:r>
              <a:rPr lang="en-GB" dirty="0"/>
              <a:t>Compare communication with published article on the EREH website</a:t>
            </a:r>
            <a:r>
              <a:rPr lang="en-GB" dirty="0" err="1"/>
              <a:t/>
            </a:r>
            <a:r>
              <a:rPr lang="en-GB" dirty="0"/>
              <a:t>:</a:t>
            </a:r>
          </a:p>
          <a:p>
            <a:pPr lvl="1"/>
            <a:r>
              <a:rPr lang="en-GB" dirty="0">
                <a:hlinkClick r:id="rId3"/>
              </a:rPr>
              <a:t>Read the article in EREH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A60AA-F4D5-9118-7481-BD03D8606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74</a:t>
            </a:fld>
            <a:endParaRPr lang="en-US" dirty="0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149423E-7C41-727C-3688-B11EF9201E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878588"/>
            <a:ext cx="4114800" cy="562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2185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95980-7E54-5E78-EC5F-7307EFDD6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Scarring versus selection</a:t>
            </a:r>
          </a:p>
        </p:txBody>
      </p:sp>
      <p:pic>
        <p:nvPicPr>
          <p:cNvPr id="5" name="Online Media 4" title="Scarring and Selection in the Great Irish Famine: Video Abstract">
            <a:hlinkClick r:id="" action="ppaction://media"/>
            <a:extLst>
              <a:ext uri="{FF2B5EF4-FFF2-40B4-BE49-F238E27FC236}">
                <a16:creationId xmlns:a16="http://schemas.microsoft.com/office/drawing/2014/main" id="{75C07760-F074-8C95-7D59-558DE25F1BC1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rcRect t="7018" b="7018"/>
          <a:stretch>
            <a:fillRect/>
          </a:stretch>
        </p:blipFill>
        <p:spPr>
          <a:xfrm>
            <a:off x="1559653" y="1371600"/>
            <a:ext cx="9072693" cy="440705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83E59-18F9-3396-9848-46ABEEFC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5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happened to survivors who stayed?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89279-65ED-B756-CA98-5CD3E0706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76</a:t>
            </a:fld>
            <a:endParaRPr lang="en-US" dirty="0"/>
          </a:p>
        </p:txBody>
      </p:sp>
      <p:pic>
        <p:nvPicPr>
          <p:cNvPr id="7" name="Picture 6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F46BA908-F42D-06B6-AD40-4E1113C2D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600200"/>
            <a:ext cx="5156200" cy="365684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8E883A9-6EC5-BFEA-5242-2BBCF66C7DDB}"/>
              </a:ext>
            </a:extLst>
          </p:cNvPr>
          <p:cNvSpPr txBox="1">
            <a:spLocks/>
          </p:cNvSpPr>
          <p:nvPr/>
        </p:nvSpPr>
        <p:spPr>
          <a:xfrm>
            <a:off x="304800" y="1752600"/>
            <a:ext cx="64008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44661" indent="-144661" algn="l" defTabSz="3857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313433" indent="-120551" algn="l" defTabSz="385763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82204" indent="-96441" algn="l" defTabSz="3857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75085" indent="-96441" algn="l" defTabSz="385763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675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67966" indent="-96441" algn="l" defTabSz="3857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75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1060847" indent="-96441" algn="l" defTabSz="385763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1253729" indent="-96441" algn="l" defTabSz="3857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1446610" indent="-96441" algn="l" defTabSz="385763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1639491" indent="-96441" algn="l" defTabSz="38576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75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GB" dirty="0"/>
              <a:t>Question: How did surviving the Famine affect long-term health?</a:t>
            </a:r>
          </a:p>
          <a:p>
            <a:r>
              <a:rPr lang="en-GB" dirty="0"/>
              <a:t>Two effects:</a:t>
            </a:r>
          </a:p>
          <a:p>
            <a:pPr lvl="1"/>
            <a:r>
              <a:rPr lang="en-GB" dirty="0"/>
              <a:t> Scarring → famine exposure harms development → shorter adults</a:t>
            </a:r>
          </a:p>
          <a:p>
            <a:pPr lvl="1"/>
            <a:r>
              <a:rPr lang="en-GB" dirty="0"/>
              <a:t> Selection → selective mortality can make survivors look healthier; migration also changes who remains</a:t>
            </a:r>
          </a:p>
          <a:p>
            <a:r>
              <a:rPr lang="en-GB" dirty="0"/>
              <a:t>Compare height of people born </a:t>
            </a:r>
            <a:r>
              <a:rPr lang="en-GB" u="sng" dirty="0"/>
              <a:t>before</a:t>
            </a:r>
            <a:r>
              <a:rPr lang="en-GB" dirty="0"/>
              <a:t>, </a:t>
            </a:r>
            <a:r>
              <a:rPr lang="en-GB" u="sng" dirty="0"/>
              <a:t>during</a:t>
            </a:r>
            <a:r>
              <a:rPr lang="en-GB" dirty="0"/>
              <a:t>, and </a:t>
            </a:r>
            <a:r>
              <a:rPr lang="en-GB" u="sng" dirty="0"/>
              <a:t>after</a:t>
            </a:r>
            <a:r>
              <a:rPr lang="en-GB" dirty="0"/>
              <a:t> the Famine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833F-D63F-FBC1-6A31-51CE4F33B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Selection in rural areas,</a:t>
            </a:r>
            <a:br>
              <a:rPr lang="en-GB" dirty="0"/>
            </a:br>
            <a:r>
              <a:rPr lang="en-GB" dirty="0"/>
              <a:t>scarring in cities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479F8-4F1B-00C1-304F-E99673AFD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Rural areas (Tipperary):</a:t>
            </a:r>
          </a:p>
          <a:p>
            <a:pPr lvl="1"/>
            <a:r>
              <a:rPr lang="en-GB" dirty="0"/>
              <a:t> Higher mortality than Dublin</a:t>
            </a:r>
          </a:p>
          <a:p>
            <a:pPr lvl="1"/>
            <a:r>
              <a:rPr lang="en-GB" dirty="0"/>
              <a:t> No height loss → selection effect dominates</a:t>
            </a:r>
          </a:p>
          <a:p>
            <a:r>
              <a:rPr lang="en-GB" dirty="0"/>
              <a:t>Urban areas (Dublin):</a:t>
            </a:r>
          </a:p>
          <a:p>
            <a:pPr lvl="1"/>
            <a:r>
              <a:rPr lang="en-GB" dirty="0"/>
              <a:t> Lower mortality but more disease &amp; crowding</a:t>
            </a:r>
          </a:p>
          <a:p>
            <a:pPr lvl="1"/>
            <a:r>
              <a:rPr lang="en-GB" dirty="0"/>
              <a:t> Famine-born adults shorter by 0.7–2.2 cm → scarring effect</a:t>
            </a:r>
          </a:p>
          <a:p>
            <a:r>
              <a:rPr lang="en-GB" dirty="0"/>
              <a:t>Key pattern: Worst-hit places show least stunting → selection masks stunting</a:t>
            </a:r>
          </a:p>
          <a:p>
            <a:r>
              <a:rPr lang="en-GB" dirty="0"/>
              <a:t>This is a robust finding (see various appendices!)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811A5-6FD1-DEB9-5995-6B9CC5E8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7457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8533B-B9CB-BA45-4CC5-C39364D4D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6200"/>
            <a:ext cx="11633200" cy="1524000"/>
          </a:xfrm>
        </p:spPr>
        <p:txBody>
          <a:bodyPr anchor="t">
            <a:normAutofit/>
          </a:bodyPr>
          <a:lstStyle/>
          <a:p>
            <a:r>
              <a:rPr lang="en-GB" sz="4000" dirty="0"/>
              <a:t>Why this matters</a:t>
            </a:r>
          </a:p>
        </p:txBody>
      </p:sp>
      <p:pic>
        <p:nvPicPr>
          <p:cNvPr id="6" name="Picture 5" descr="A graph of a function&#10;&#10;AI-generated content may be incorrect.">
            <a:extLst>
              <a:ext uri="{FF2B5EF4-FFF2-40B4-BE49-F238E27FC236}">
                <a16:creationId xmlns:a16="http://schemas.microsoft.com/office/drawing/2014/main" id="{F1F8288E-5988-308F-6210-A25D2874A9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764489"/>
            <a:ext cx="4659697" cy="3250138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007F3-45C5-0858-577F-4D1895B69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804" y="6325499"/>
            <a:ext cx="71120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FC2192B-6256-404E-978F-861D70E855E1}" type="slidenum">
              <a:rPr lang="en-US" smtClean="0"/>
              <a:pPr>
                <a:spcAft>
                  <a:spcPts val="600"/>
                </a:spcAft>
              </a:pPr>
              <a:t>78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538D6-D4EC-6722-7818-305EF8B002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4800" y="1752600"/>
            <a:ext cx="6553200" cy="4373880"/>
          </a:xfrm>
        </p:spPr>
        <p:txBody>
          <a:bodyPr>
            <a:normAutofit/>
          </a:bodyPr>
          <a:lstStyle/>
          <a:p>
            <a:r>
              <a:rPr lang="en-GB" dirty="0"/>
              <a:t>“Healthier” survivors can hide true damage — famine reshapes populations</a:t>
            </a:r>
          </a:p>
          <a:p>
            <a:r>
              <a:rPr lang="en-GB" dirty="0"/>
              <a:t>Implications:</a:t>
            </a:r>
          </a:p>
          <a:p>
            <a:pPr lvl="1"/>
            <a:r>
              <a:rPr lang="en-GB" sz="2000" dirty="0"/>
              <a:t>Selection distorts long-run health data</a:t>
            </a:r>
          </a:p>
          <a:p>
            <a:pPr lvl="1"/>
            <a:r>
              <a:rPr lang="en-GB" sz="2000" dirty="0"/>
              <a:t>Regional recovery depends on who survived</a:t>
            </a:r>
          </a:p>
          <a:p>
            <a:pPr lvl="1"/>
            <a:r>
              <a:rPr lang="en-GB" sz="2000" dirty="0"/>
              <a:t>Lessons for modern crises and climate shocks</a:t>
            </a:r>
          </a:p>
          <a:p>
            <a:r>
              <a:rPr lang="en-GB" sz="2200" dirty="0"/>
              <a:t>Non-technical summary on RTÉ Brainstorm website (7 August 2025):</a:t>
            </a:r>
          </a:p>
          <a:p>
            <a:pPr lvl="1"/>
            <a:r>
              <a:rPr lang="en-GB" sz="1800" dirty="0">
                <a:hlinkClick r:id="rId3"/>
              </a:rPr>
              <a:t>Read the RTÉ Brainstorm article</a:t>
            </a:r>
            <a:r>
              <a:rPr lang="en-GB" sz="18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157531-1204-6A73-3558-BB654DFEC291}"/>
              </a:ext>
            </a:extLst>
          </p:cNvPr>
          <p:cNvSpPr txBox="1"/>
          <p:nvPr/>
        </p:nvSpPr>
        <p:spPr>
          <a:xfrm>
            <a:off x="7315200" y="5121029"/>
            <a:ext cx="45097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Theoretical deviation of height in standard deviations of parent distribution, in relation to mortality rate</a:t>
            </a:r>
          </a:p>
          <a:p>
            <a:endParaRPr lang="en-GB" dirty="0"/>
          </a:p>
          <a:p>
            <a:r>
              <a:rPr lang="en-GB" dirty="0"/>
              <a:t>Based on Bozzoli et al. (2009)</a:t>
            </a:r>
          </a:p>
        </p:txBody>
      </p:sp>
    </p:spTree>
    <p:extLst>
      <p:ext uri="{BB962C8B-B14F-4D97-AF65-F5344CB8AC3E}">
        <p14:creationId xmlns:p14="http://schemas.microsoft.com/office/powerpoint/2010/main" val="17330897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Great Irish Famine is probably the single most important event in Ireland’s economic history</a:t>
            </a:r>
          </a:p>
          <a:p>
            <a:r>
              <a:rPr lang="en-GB" dirty="0"/>
              <a:t>It resulted in mass starvation and mass emigration</a:t>
            </a:r>
          </a:p>
          <a:p>
            <a:r>
              <a:rPr lang="en-GB" dirty="0"/>
              <a:t>It affected every part of society, but some parts more than others</a:t>
            </a:r>
          </a:p>
          <a:p>
            <a:r>
              <a:rPr lang="en-GB" dirty="0"/>
              <a:t>It has for too long been interpreted through a narrow nationalist lens</a:t>
            </a:r>
          </a:p>
          <a:p>
            <a:r>
              <a:rPr lang="en-GB" dirty="0"/>
              <a:t>The work of Joel Mokyr and Cormac Ó </a:t>
            </a:r>
            <a:r>
              <a:rPr lang="en-GB" dirty="0" err="1"/>
              <a:t>Gráda</a:t>
            </a:r>
            <a:r>
              <a:rPr lang="en-GB" dirty="0"/>
              <a:t> has changed the focus of debate and inspired others</a:t>
            </a:r>
          </a:p>
          <a:p>
            <a:r>
              <a:rPr lang="en-GB" dirty="0"/>
              <a:t>Famine scholarship is ongoing, with new work centred around Big Data (e.g. 1901 census) or, in its absence, non-standard sources (e.g. prison records)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4873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was relief inadequate?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62125"/>
            <a:ext cx="5381625" cy="3857625"/>
          </a:xfrm>
        </p:spPr>
        <p:txBody>
          <a:bodyPr/>
          <a:lstStyle/>
          <a:p>
            <a:pPr>
              <a:spcAft>
                <a:spcPts val="1600"/>
              </a:spcAft>
            </a:pPr>
            <a:r>
              <a:rPr lang="en-GB" sz="2200"/>
              <a:t>The scale of relief was too small for the catastrophe</a:t>
            </a:r>
          </a:p>
          <a:p>
            <a:pPr>
              <a:spcAft>
                <a:spcPts val="1600"/>
              </a:spcAft>
            </a:pPr>
            <a:r>
              <a:rPr lang="en-GB" sz="2200"/>
              <a:t>The Poor Law relied on local funding</a:t>
            </a:r>
          </a:p>
          <a:p>
            <a:pPr>
              <a:spcAft>
                <a:spcPts val="1600"/>
              </a:spcAft>
            </a:pPr>
            <a:r>
              <a:rPr lang="en-GB" sz="2200"/>
              <a:t>The worst-hit areas had the greatest needs and a weak tax base</a:t>
            </a:r>
          </a:p>
          <a:p>
            <a:pPr>
              <a:spcAft>
                <a:spcPts val="1600"/>
              </a:spcAft>
            </a:pPr>
            <a:r>
              <a:rPr lang="en-GB" sz="2200"/>
              <a:t>Limited transfers from richer regions left local resources overwhelmed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50" name="Workhouse engraving" descr="Crowd outside a workhouse gate during the Irish Famin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90000">
            <a:off x="6096000" y="1838325"/>
            <a:ext cx="5667375" cy="2428875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22542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spcAft>
                <a:spcPts val="2200"/>
              </a:spcAft>
            </a:pPr>
            <a:r>
              <a:rPr lang="en-GB"/>
              <a:t>Teaching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28600">
              <a:spcAft>
                <a:spcPts val="2000"/>
              </a:spcAft>
              <a:buChar char="•"/>
            </a:pPr>
            <a:r>
              <a:rPr lang="en-GB" sz="2400"/>
              <a:t>Delivered at Queen’s University Belfast in November 2025 as part of ECO3020 (Economic History), an elective final-year undergraduate module for students in BSc Economics, BA Philosophy, Politics and Economics (PPE), and related programmes.</a:t>
            </a:r>
          </a:p>
          <a:p>
            <a:pPr marL="285750" indent="-228600">
              <a:spcAft>
                <a:spcPts val="2000"/>
              </a:spcAft>
              <a:buChar char="•"/>
            </a:pPr>
            <a:r>
              <a:rPr lang="en-GB" sz="2400"/>
              <a:t>Designed for a two-hour teaching block.</a:t>
            </a:r>
          </a:p>
          <a:p>
            <a:pPr marL="285750" indent="-228600">
              <a:spcAft>
                <a:spcPts val="2000"/>
              </a:spcAft>
              <a:buChar char="•"/>
            </a:pPr>
            <a:r>
              <a:rPr lang="en-GB" sz="2400"/>
              <a:t>An accompanying tutorial asks students to discuss and debate selected readings from the module’s reading list.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25422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Tutorial Reading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28750"/>
            <a:ext cx="11430000" cy="4619625"/>
          </a:xfrm>
        </p:spPr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sz="1800" lang="en-GB"/>
              <a:t>J. Mokyr &amp; C. Ó Gráda (2002). “What do people die of during famines: The Great Irish Famine in comparative perspective”. European Review of Economic History 6(3), pp. 339–363. </a:t>
            </a:r>
            <a:r>
              <a:rPr sz="1800" lang="en-GB">
                <a:hlinkClick r:id="rIdReading0"/>
              </a:rPr>
              <a:t>[DOI]</a:t>
            </a:r>
          </a:p>
          <a:p>
            <a:pPr marL="0" indent="0">
              <a:spcAft>
                <a:spcPts val="1200"/>
              </a:spcAft>
              <a:buNone/>
            </a:pPr>
            <a:r>
              <a:rPr sz="1800" lang="en-GB"/>
              <a:t>C. Read (2016). “Laissez-faire, the Irish famine, and British financial crisis”. The Economic History Review 69(2), pp. 411–434. </a:t>
            </a:r>
            <a:r>
              <a:rPr sz="1800" lang="en-GB">
                <a:hlinkClick r:id="rIdReading1"/>
              </a:rPr>
              <a:t>[DOI]</a:t>
            </a:r>
          </a:p>
          <a:p>
            <a:pPr marL="0" indent="0">
              <a:spcAft>
                <a:spcPts val="1200"/>
              </a:spcAft>
              <a:buNone/>
            </a:pPr>
            <a:r>
              <a:rPr sz="1800" lang="en-GB"/>
              <a:t>C. Ó Gráda (2019). “The next world and the new world: Relief, migration, and the Great Irish Famine”. The Journal of Economic History 79(2), pp. 319–355. </a:t>
            </a:r>
            <a:r>
              <a:rPr sz="1800" lang="en-GB">
                <a:hlinkClick r:id="rIdReading2"/>
              </a:rPr>
              <a:t>[DOI]</a:t>
            </a:r>
          </a:p>
          <a:p>
            <a:pPr marL="0" indent="0">
              <a:spcAft>
                <a:spcPts val="1200"/>
              </a:spcAft>
              <a:buNone/>
            </a:pPr>
            <a:r>
              <a:rPr sz="1800" lang="en-GB"/>
              <a:t>S. Henderson (2019). “Religion and development in post-famine Ireland”. The Economic History Review 72(4), pp. 1251–1285. </a:t>
            </a:r>
            <a:r>
              <a:rPr sz="1800" lang="en-GB">
                <a:hlinkClick r:id="rIdReading3"/>
              </a:rPr>
              <a:t>[DOI]</a:t>
            </a:r>
          </a:p>
          <a:p>
            <a:pPr marL="0" indent="0">
              <a:spcAft>
                <a:spcPts val="1200"/>
              </a:spcAft>
              <a:buNone/>
            </a:pPr>
            <a:r>
              <a:rPr sz="1800" lang="en-GB"/>
              <a:t>A. Fernihough &amp; C. Ó Gráda (2022). “Population and poverty in Ireland on the eve of the Great Famine”. Demography 59(5), pp. 1607–1630. </a:t>
            </a:r>
            <a:r>
              <a:rPr sz="1800" lang="en-GB">
                <a:hlinkClick r:id="rIdReading4"/>
              </a:rPr>
              <a:t>[DOI]</a:t>
            </a:r>
          </a:p>
          <a:p>
            <a:pPr marL="0" indent="0">
              <a:spcAft>
                <a:spcPts val="1200"/>
              </a:spcAft>
              <a:buNone/>
            </a:pPr>
            <a:r>
              <a:rPr sz="1800" lang="en-GB"/>
              <a:t>M. Blum, C. L. Colvin &amp; E. McLaughlin (2026). “Scarring and selection in the Great Irish Famine”. The Economic History Review 79(1), pp. 189–220. </a:t>
            </a:r>
            <a:r>
              <a:rPr sz="1800" lang="en-GB">
                <a:hlinkClick r:id="rIdReading5"/>
              </a:rPr>
              <a:t>[DOI]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25422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1800"/>
              </a:spcAft>
              <a:buNone/>
            </a:pPr>
            <a:r>
              <a:rPr lang="en-GB"/>
              <a:t>Railway expansion after the Famine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8" name="Article source"/>
          <p:cNvSpPr>
            <a:spLocks noGrp="1"/>
          </p:cNvSpPr>
          <p:nvPr/>
        </p:nvSpPr>
        <p:spPr>
          <a:xfrm>
            <a:off x="571500" y="5753100"/>
            <a:ext cx="10953750" cy="523875"/>
          </a:xfrm>
        </p:spPr>
        <p:txBody>
          <a:bodyPr/>
          <a:lstStyle/>
          <a:p>
            <a:pPr>
              <a:spcAft>
                <a:spcPts val="0"/>
              </a:spcAft>
              <a:buNone/>
            </a:pPr>
            <a:r>
              <a:rPr lang="en-GB" sz="1200"/>
              <a:t>British Parliamentary Papers (1907), digitised by Alan Fernihough.</a:t>
            </a:r>
          </a:p>
          <a:p>
            <a:pPr>
              <a:spcAft>
                <a:spcPts val="0"/>
              </a:spcAft>
              <a:buNone/>
            </a:pPr>
            <a:r>
              <a:rPr lang="en-GB" sz="1200"/>
              <a:t>Colvin, Doran &amp; Fernihough (2021), Economics Observatory. CC BY-SA 4.0.</a:t>
            </a:r>
          </a:p>
        </p:txBody>
      </p:sp>
      <p:pic>
        <p:nvPicPr>
          <p:cNvPr id="50" name="Railway networks in 1851, 1871 and 1891" descr="Maps show the expansion of Ireland’s railway network between 1851, 1871 and 1891"/>
          <p:cNvPicPr>
            <a:picLocks noChangeAspect="1"/>
          </p:cNvPicPr>
          <p:nvPr/>
        </p:nvPicPr>
        <p:blipFill>
          <a:blip r:embed="rIdRailway"/>
          <a:stretch>
            <a:fillRect/>
          </a:stretch>
        </p:blipFill>
        <p:spPr>
          <a:xfrm>
            <a:off x="1809750" y="1333500"/>
            <a:ext cx="85725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25422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1800"/>
              </a:spcAft>
              <a:buNone/>
            </a:pPr>
            <a:r>
              <a:rPr lang="en-GB"/>
              <a:t>Railways, development and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" y="1809750"/>
            <a:ext cx="11144250" cy="3714750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GB" sz="2400"/>
              <a:t>Railways improved market access and made travel faster and cheaper</a:t>
            </a:r>
          </a:p>
          <a:p>
            <a:pPr>
              <a:spcAft>
                <a:spcPts val="1800"/>
              </a:spcAft>
            </a:pPr>
            <a:r>
              <a:rPr lang="en-GB" sz="2400"/>
              <a:t>Places near the railway could gain most. Places on the line were often already well connected by road</a:t>
            </a:r>
          </a:p>
          <a:p>
            <a:pPr>
              <a:spcAft>
                <a:spcPts val="1800"/>
              </a:spcAft>
            </a:pPr>
            <a:r>
              <a:rPr lang="en-GB" sz="2400"/>
              <a:t>Emigration continued despite rising real wages in Ireland</a:t>
            </a:r>
          </a:p>
          <a:p>
            <a:pPr>
              <a:spcAft>
                <a:spcPts val="1800"/>
              </a:spcAft>
            </a:pPr>
            <a:r>
              <a:rPr lang="en-GB" sz="2400"/>
              <a:t>Infrastructure investment formed part of efforts to sustain the Union, but failed to secure political stability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8" name="Article source"/>
          <p:cNvSpPr>
            <a:spLocks noGrp="1"/>
          </p:cNvSpPr>
          <p:nvPr/>
        </p:nvSpPr>
        <p:spPr>
          <a:xfrm>
            <a:off x="428625" y="5857875"/>
            <a:ext cx="10953750" cy="333375"/>
          </a:xfrm>
        </p:spPr>
        <p:txBody>
          <a:bodyPr/>
          <a:lstStyle/>
          <a:p>
            <a:pPr>
              <a:buNone/>
            </a:pPr>
            <a:r>
              <a:rPr lang="en-GB" sz="1600">
                <a:hlinkClick r:id="rIdSource"/>
              </a:rPr>
              <a:t>Source: Colvin, Doran and Fernihough (2021), Economics Observatory</a:t>
            </a:r>
          </a:p>
        </p:txBody>
      </p:sp>
    </p:spTree>
    <p:extLst>
      <p:ext uri="{BB962C8B-B14F-4D97-AF65-F5344CB8AC3E}">
        <p14:creationId xmlns:p14="http://schemas.microsoft.com/office/powerpoint/2010/main" val="141225422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GB"/>
              <a:t>Conclusions: poverty and vulnerability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GB" sz="2400"/>
              <a:t>Poverty left households with little protection against repeated harvest failures</a:t>
            </a:r>
          </a:p>
          <a:p>
            <a:pPr>
              <a:spcAft>
                <a:spcPts val="1800"/>
              </a:spcAft>
            </a:pPr>
            <a:r>
              <a:rPr lang="en-GB" sz="2400"/>
              <a:t>Dependence on the potato sustained livelihoods but exposed them to blight</a:t>
            </a:r>
          </a:p>
          <a:p>
            <a:pPr>
              <a:spcAft>
                <a:spcPts val="1800"/>
              </a:spcAft>
            </a:pPr>
            <a:r>
              <a:rPr lang="en-GB" sz="2400"/>
              <a:t>Regional differences in resources and economic opportunities shaped vulnerability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25422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GB"/>
              <a:t>Conclusions: famine relief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GB" sz="2400"/>
              <a:t>The poorest areas faced the greatest need and a weak local tax base</a:t>
            </a:r>
          </a:p>
          <a:p>
            <a:pPr>
              <a:spcAft>
                <a:spcPts val="1800"/>
              </a:spcAft>
            </a:pPr>
            <a:r>
              <a:rPr lang="en-GB" sz="2400"/>
              <a:t>Relief was inadequate in scale, while policy choices constrained the response</a:t>
            </a:r>
          </a:p>
          <a:p>
            <a:pPr>
              <a:spcAft>
                <a:spcPts val="1800"/>
              </a:spcAft>
            </a:pPr>
            <a:r>
              <a:rPr lang="en-GB" sz="2400"/>
              <a:t>Even where food was available, households needed income or relief to obtain 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2542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A261F5-214B-D9E9-E649-28613350E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1524000"/>
            <a:ext cx="11144250" cy="2619375"/>
          </a:xfrm>
        </p:spPr>
        <p:txBody>
          <a:bodyPr/>
          <a:lstStyle/>
          <a:p>
            <a:pPr>
              <a:spcAft>
                <a:spcPts val="1300"/>
              </a:spcAft>
              <a:buNone/>
            </a:pPr>
            <a:r>
              <a:rPr lang="en-GB" sz="3800"/>
              <a:t>Part VI:</a:t>
            </a:r>
          </a:p>
          <a:p>
            <a:pPr>
              <a:spcAft>
                <a:spcPts val="1300"/>
              </a:spcAft>
              <a:buNone/>
            </a:pPr>
            <a:r>
              <a:rPr lang="en-GB" sz="3800"/>
              <a:t>Prison registers as a source</a:t>
            </a:r>
          </a:p>
          <a:p>
            <a:pPr>
              <a:spcAft>
                <a:spcPts val="1300"/>
              </a:spcAft>
              <a:buNone/>
            </a:pPr>
            <a:r>
              <a:rPr lang="en-GB" sz="3800"/>
              <a:t>of cliometric history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A3E97B-DA48-296C-2C5D-5D350B210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875" y="4572000"/>
            <a:ext cx="11144250" cy="857250"/>
          </a:xfrm>
        </p:spPr>
        <p:txBody>
          <a:bodyPr/>
          <a:lstStyle/>
          <a:p>
            <a:pPr>
              <a:spcAft>
                <a:spcPts val="1300"/>
              </a:spcAft>
              <a:buNone/>
            </a:pPr>
            <a:r>
              <a:rPr lang="en-GB" sz="2200"/>
              <a:t>Using alternative sources in the absence of census records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B75BD-A976-3B29-DDE3-21A7B5B3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1553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1300"/>
              </a:spcAft>
              <a:buNone/>
            </a:pPr>
            <a:r>
              <a:rPr lang="en-GB"/>
              <a:t>Institutions for ordinary hardship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" y="5381625"/>
            <a:ext cx="11334750" cy="714375"/>
          </a:xfrm>
        </p:spPr>
        <p:txBody>
          <a:bodyPr/>
          <a:lstStyle/>
          <a:p>
            <a:pPr>
              <a:spcAft>
                <a:spcPts val="1300"/>
              </a:spcAft>
              <a:buNone/>
            </a:pPr>
            <a:r>
              <a:rPr lang="en-GB" sz="2400"/>
              <a:t>Systemic shock broke all three institutional models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102" name="Content Placeholder 2"/>
          <p:cNvSpPr>
            <a:spLocks noGrp="1"/>
          </p:cNvSpPr>
          <p:nvPr/>
        </p:nvSpPr>
        <p:spPr>
          <a:xfrm>
            <a:off x="428625" y="4905375"/>
            <a:ext cx="11334750" cy="333375"/>
          </a:xfrm>
        </p:spPr>
        <p:txBody>
          <a:bodyPr/>
          <a:lstStyle/>
          <a:p>
            <a:pPr>
              <a:spcAft>
                <a:spcPts val="1300"/>
              </a:spcAft>
              <a:buNone/>
            </a:pPr>
            <a:r>
              <a:rPr lang="en-GB" sz="1400">
                <a:latin typeface="Century Gothic"/>
              </a:rPr>
              <a:t>Adapted from McLaughlin and Pecchenino (2022, 2026)</a:t>
            </a:r>
          </a:p>
        </p:txBody>
      </p:sp>
      <p:graphicFrame>
        <p:nvGraphicFramePr>
          <p:cNvPr id="101" name=""/>
          <p:cNvGraphicFramePr/>
          <p:nvPr/>
        </p:nvGraphicFramePr>
        <p:xfrm>
          <a:off x="428625" y="1762125"/>
          <a:ext cx="11334750" cy="2952750"/>
        </p:xfrm>
        <a:graphic>
          <a:graphicData uri="http://schemas.openxmlformats.org/drawingml/2006/table">
            <a:tbl>
              <a:tblPr/>
              <a:tblGrid>
                <a:gridCol w="1905000"/>
                <a:gridCol w="3143250"/>
                <a:gridCol w="3143250"/>
                <a:gridCol w="314325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981F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Poor Law</a:t>
                      </a:r>
                    </a:p>
                  </a:txBody>
                  <a:tcPr marL="91440" marR="91440" marT="45720" marB="45720">
                    <a:solidFill>
                      <a:srgbClr val="981F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Loan Funds</a:t>
                      </a:r>
                    </a:p>
                  </a:txBody>
                  <a:tcPr marL="91440" marR="91440" marT="45720" marB="45720">
                    <a:solidFill>
                      <a:srgbClr val="981F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Pawnbrokers</a:t>
                      </a:r>
                    </a:p>
                  </a:txBody>
                  <a:tcPr marL="91440" marR="91440" marT="45720" marB="45720">
                    <a:solidFill>
                      <a:srgbClr val="981F32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981F32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Function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Relieve destitution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Prevent destitution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Supply liquidity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981F32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Means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Character and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guarantors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Pledged goods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981F32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Built for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Household poverty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Credit constraints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Temporary cash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shortages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981F32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Fails when</a:t>
                      </a:r>
                    </a:p>
                  </a:txBody>
                  <a:tcPr marL="91440" marR="91440" marT="45720" marB="45720">
                    <a:solidFill>
                      <a:srgbClr val="F1E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General poverty</a:t>
                      </a:r>
                    </a:p>
                  </a:txBody>
                  <a:tcPr marL="91440" marR="91440" marT="45720" marB="45720">
                    <a:solidFill>
                      <a:srgbClr val="F1E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General defaults</a:t>
                      </a:r>
                    </a:p>
                  </a:txBody>
                  <a:tcPr marL="91440" marR="91440" marT="45720" marB="45720">
                    <a:solidFill>
                      <a:srgbClr val="F1E8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52525"/>
                          </a:solidFill>
                          <a:latin typeface="Century Gothic"/>
                          <a:ea typeface="Century Gothic"/>
                          <a:cs typeface="Century Gothic"/>
                        </a:rPr>
                        <a:t>Assets are exhausted</a:t>
                      </a:r>
                    </a:p>
                  </a:txBody>
                  <a:tcPr marL="91440" marR="91440" marT="45720" marB="45720">
                    <a:solidFill>
                      <a:srgbClr val="F1E8E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225422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A261F5-214B-D9E9-E649-28613350E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809750"/>
            <a:ext cx="11049000" cy="1238250"/>
          </a:xfrm>
        </p:spPr>
        <p:txBody>
          <a:bodyPr/>
          <a:lstStyle/>
          <a:p>
            <a:pPr>
              <a:spcAft>
                <a:spcPts val="1300"/>
              </a:spcAft>
              <a:buNone/>
            </a:pPr>
            <a:r>
              <a:rPr lang="en-GB" sz="4000"/>
              <a:t>Dr Chris Colvin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A3E97B-DA48-296C-2C5D-5D350B210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3429000"/>
            <a:ext cx="11049000" cy="1619250"/>
          </a:xfrm>
        </p:spPr>
        <p:txBody>
          <a:bodyPr/>
          <a:lstStyle/>
          <a:p>
            <a:pPr>
              <a:spcAft>
                <a:spcPts val="1300"/>
              </a:spcAft>
              <a:buNone/>
            </a:pPr>
            <a:r>
              <a:rPr lang="en-GB" sz="2600"/>
              <a:t>Queen’s University Belfast</a:t>
            </a:r>
          </a:p>
          <a:p>
            <a:pPr>
              <a:spcAft>
                <a:spcPts val="1300"/>
              </a:spcAft>
              <a:buNone/>
            </a:pPr>
            <a:r>
              <a:rPr lang="en-GB" sz="2600">
                <a:hlinkClick r:id="rIdEmail"/>
              </a:rPr>
              <a:t>chris.colvin@qub.ac.uk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B75BD-A976-3B29-DDE3-21A7B5B3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15531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1300"/>
              </a:spcAft>
              <a:buNone/>
            </a:pPr>
            <a:r>
              <a:rPr lang="en-GB"/>
              <a:t>Churches, tithes and the Union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76375"/>
            <a:ext cx="11430000" cy="4095750"/>
          </a:xfrm>
        </p:spPr>
        <p:txBody>
          <a:bodyPr/>
          <a:lstStyle/>
          <a:p>
            <a:pPr>
              <a:spcAft>
                <a:spcPts val="1100"/>
              </a:spcAft>
            </a:pPr>
            <a:r>
              <a:rPr lang="en-GB" sz="2200"/>
              <a:t>Church of Ireland: established minority church, with four bishops in the Lords by rotation; no equivalent for other churches</a:t>
            </a:r>
          </a:p>
          <a:p>
            <a:pPr>
              <a:spcAft>
                <a:spcPts val="1100"/>
              </a:spcAft>
            </a:pPr>
            <a:r>
              <a:rPr lang="en-GB" sz="2200"/>
              <a:t>The Catholic majority supported its own Church and paid tithes to the established church</a:t>
            </a:r>
          </a:p>
          <a:p>
            <a:pPr>
              <a:spcAft>
                <a:spcPts val="1100"/>
              </a:spcAft>
            </a:pPr>
            <a:r>
              <a:rPr lang="en-GB" sz="2200"/>
              <a:t>1823: fixed cash tithes placed harvest and price risks on occupiers. Catholic Emancipation (1829) left this arrangement intact</a:t>
            </a:r>
          </a:p>
          <a:p>
            <a:pPr>
              <a:spcAft>
                <a:spcPts val="1100"/>
              </a:spcAft>
            </a:pPr>
            <a:r>
              <a:rPr lang="en-GB" sz="2200"/>
              <a:t>1831–38: the Tithe War brought refusal to pay, intimidation, violence and state enforcement</a:t>
            </a:r>
          </a:p>
          <a:p>
            <a:pPr>
              <a:spcAft>
                <a:spcPts val="1100"/>
              </a:spcAft>
            </a:pPr>
            <a:r>
              <a:rPr lang="en-GB" sz="2200"/>
              <a:t>1838: the charge was reduced and liability shifted to landlords; support for the established church continued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2192B-6256-404E-978F-861D70E855E1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00" name="Content Placeholder 2"/>
          <p:cNvSpPr>
            <a:spLocks noGrp="1"/>
          </p:cNvSpPr>
          <p:nvPr/>
        </p:nvSpPr>
        <p:spPr>
          <a:xfrm>
            <a:off x="381000" y="5772150"/>
            <a:ext cx="11430000" cy="428625"/>
          </a:xfrm>
        </p:spPr>
        <p:txBody>
          <a:bodyPr/>
          <a:lstStyle/>
          <a:p>
            <a:pPr>
              <a:spcAft>
                <a:spcPts val="1300"/>
              </a:spcAft>
              <a:buNone/>
            </a:pPr>
            <a:r>
              <a:rPr lang="en-GB" sz="2100" b="1">
                <a:latin typeface="Century Gothic"/>
              </a:rPr>
              <a:t>Unequal religious institutions created a problem of state legitimacy</a:t>
            </a:r>
          </a:p>
        </p:txBody>
      </p:sp>
    </p:spTree>
    <p:extLst>
      <p:ext uri="{BB962C8B-B14F-4D97-AF65-F5344CB8AC3E}">
        <p14:creationId xmlns:p14="http://schemas.microsoft.com/office/powerpoint/2010/main" val="14122542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4032</Words>
  <Application>Microsoft Office PowerPoint</Application>
  <PresentationFormat>Widescreen</PresentationFormat>
  <Paragraphs>462</Paragraphs>
  <Slides>81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8" baseType="lpstr">
      <vt:lpstr>Aptos</vt:lpstr>
      <vt:lpstr>Arial</vt:lpstr>
      <vt:lpstr>Calibri</vt:lpstr>
      <vt:lpstr>Century Gothic</vt:lpstr>
      <vt:lpstr>Courier New</vt:lpstr>
      <vt:lpstr>Palatino Linotype</vt:lpstr>
      <vt:lpstr>Times New Roman</vt:lpstr>
      <vt:lpstr>1_Executive</vt:lpstr>
      <vt:lpstr>Death, Migration and the  Great Irish Famine</vt:lpstr>
      <vt:lpstr>Recap: Ireland’s  Industrial Revolution</vt:lpstr>
      <vt:lpstr>The Great Irish Famine, 1845-1852</vt:lpstr>
      <vt:lpstr>Ireland's population, 1820s-1910s </vt:lpstr>
      <vt:lpstr>Population decrease and increase</vt:lpstr>
      <vt:lpstr>The Famine as a watershed  in Irish history</vt:lpstr>
      <vt:lpstr>The Famine  from Steve Coogan…</vt:lpstr>
      <vt:lpstr>…to Tim Pat Coogan</vt:lpstr>
      <vt:lpstr>The New Economic History  of the Famine</vt:lpstr>
      <vt:lpstr>Part 1: Why was the  Famine Irish?</vt:lpstr>
      <vt:lpstr>Potato dependence</vt:lpstr>
      <vt:lpstr>Mokyr’s cliometrics</vt:lpstr>
      <vt:lpstr>Population factors</vt:lpstr>
      <vt:lpstr>Provincial population growth estimates</vt:lpstr>
      <vt:lpstr>Entrepreneurial factors</vt:lpstr>
      <vt:lpstr>Political and  institutional factors</vt:lpstr>
      <vt:lpstr>Social and ethnic factors</vt:lpstr>
      <vt:lpstr>Geographical factors</vt:lpstr>
      <vt:lpstr>Capital formation factors</vt:lpstr>
      <vt:lpstr>Emigration factors</vt:lpstr>
      <vt:lpstr>Part 2: Measuring the human  impact of the Famine</vt:lpstr>
      <vt:lpstr>Excess mortality</vt:lpstr>
      <vt:lpstr>Numbers and causes of  Famine-related death</vt:lpstr>
      <vt:lpstr>Geographic impact</vt:lpstr>
      <vt:lpstr>Population and poverty</vt:lpstr>
      <vt:lpstr>Pre-Famine housing  and employment</vt:lpstr>
      <vt:lpstr>Hierarchy of suffering</vt:lpstr>
      <vt:lpstr>Potato prices</vt:lpstr>
      <vt:lpstr>Change in potato prices</vt:lpstr>
      <vt:lpstr>Part 3: Famine and  government policy</vt:lpstr>
      <vt:lpstr>Pre-Famine poor relief</vt:lpstr>
      <vt:lpstr>The Irish Poor law</vt:lpstr>
      <vt:lpstr>Repeal of the Corn Laws  and impact on prices</vt:lpstr>
      <vt:lpstr>Macroeconomic context  of famine relief </vt:lpstr>
      <vt:lpstr>Microfinance  and poverty relief</vt:lpstr>
      <vt:lpstr>Food exports  and pig breeding</vt:lpstr>
      <vt:lpstr>Why didn’t they just fish?</vt:lpstr>
      <vt:lpstr>Part 4: Migration as  disaster relief</vt:lpstr>
      <vt:lpstr>The Irish in America</vt:lpstr>
      <vt:lpstr>Permanent and irreversible</vt:lpstr>
      <vt:lpstr>Costs and benefits  of migration</vt:lpstr>
      <vt:lpstr>Famine deaths and emigration</vt:lpstr>
      <vt:lpstr>Wages and death rates</vt:lpstr>
      <vt:lpstr>Emigration, deaths  and wages</vt:lpstr>
      <vt:lpstr>Conclusion:  Was the Famine predictable?</vt:lpstr>
      <vt:lpstr>Part 5: Post-Famine development and convergence </vt:lpstr>
      <vt:lpstr>Religion and Development  in Post-Famine Ireland</vt:lpstr>
      <vt:lpstr>Sources of convergence  between Ireland and Great Britain</vt:lpstr>
      <vt:lpstr>Pre- versus post-Famine  literacy rates</vt:lpstr>
      <vt:lpstr>Long legacy of Ireland’s  pre-Famine education system</vt:lpstr>
      <vt:lpstr>Literacy and religion in 1901</vt:lpstr>
      <vt:lpstr>Ireland’s shifting language frontier</vt:lpstr>
      <vt:lpstr>Explaining the language decline </vt:lpstr>
      <vt:lpstr>Demand versus supply factors</vt:lpstr>
      <vt:lpstr>Estimating numeracy  from age heaping</vt:lpstr>
      <vt:lpstr>Can women count?</vt:lpstr>
      <vt:lpstr>Sources in Irish  demographic history</vt:lpstr>
      <vt:lpstr>Prison register as a  data source</vt:lpstr>
      <vt:lpstr>Ireland’s 19th-century  prison population</vt:lpstr>
      <vt:lpstr>Age heaping at  Clonmel Gaol</vt:lpstr>
      <vt:lpstr>Correcting for the  prison selection bias</vt:lpstr>
      <vt:lpstr>Numeracy of prisoners  versus population</vt:lpstr>
      <vt:lpstr>Prison literacy across  the 19th century</vt:lpstr>
      <vt:lpstr>Does age heaping  really measure numeracy?</vt:lpstr>
      <vt:lpstr>Heaping Irish</vt:lpstr>
      <vt:lpstr>Scarring versus selection</vt:lpstr>
      <vt:lpstr>What happened to survivors who stayed?</vt:lpstr>
      <vt:lpstr>Selection in rural areas, scarring in cities</vt:lpstr>
      <vt:lpstr>Why this matters</vt:lpstr>
      <vt:lpstr>Lecture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Chris</dc:creator>
  <cp:lastModifiedBy>Chris Colvin</cp:lastModifiedBy>
  <cp:revision>288</cp:revision>
  <cp:lastPrinted>2025-10-26T12:44:39Z</cp:lastPrinted>
  <dcterms:created xsi:type="dcterms:W3CDTF">2006-08-16T00:00:00Z</dcterms:created>
  <dcterms:modified xsi:type="dcterms:W3CDTF">2026-09-28T08:23:07Z</dcterms:modified>
</cp:coreProperties>
</file>